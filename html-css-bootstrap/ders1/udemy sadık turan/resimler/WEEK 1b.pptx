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97" r:id="rId2"/>
    <p:sldId id="298" r:id="rId3"/>
    <p:sldId id="299" r:id="rId4"/>
    <p:sldId id="300" r:id="rId5"/>
    <p:sldId id="301" r:id="rId6"/>
    <p:sldId id="302" r:id="rId7"/>
    <p:sldId id="309" r:id="rId8"/>
    <p:sldId id="296" r:id="rId9"/>
    <p:sldId id="303" r:id="rId10"/>
    <p:sldId id="304" r:id="rId11"/>
    <p:sldId id="306" r:id="rId12"/>
    <p:sldId id="307" r:id="rId13"/>
    <p:sldId id="308" r:id="rId14"/>
    <p:sldId id="305" r:id="rId15"/>
    <p:sldId id="323" r:id="rId16"/>
    <p:sldId id="324" r:id="rId17"/>
    <p:sldId id="310" r:id="rId18"/>
    <p:sldId id="311" r:id="rId19"/>
    <p:sldId id="312" r:id="rId20"/>
    <p:sldId id="314" r:id="rId21"/>
    <p:sldId id="315" r:id="rId22"/>
    <p:sldId id="317" r:id="rId23"/>
    <p:sldId id="319"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A6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04" autoAdjust="0"/>
    <p:restoredTop sz="94660"/>
  </p:normalViewPr>
  <p:slideViewPr>
    <p:cSldViewPr snapToObjects="1">
      <p:cViewPr varScale="1">
        <p:scale>
          <a:sx n="89" d="100"/>
          <a:sy n="89" d="100"/>
        </p:scale>
        <p:origin x="1570"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6A5469-E9B3-4AF6-A236-D4CAFF5BB4CE}" type="datetimeFigureOut">
              <a:rPr lang="tr-TR" smtClean="0"/>
              <a:t>30.09.2024</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5D315A4-88A5-4B42-A46D-7192A7C5A0DE}" type="slidenum">
              <a:rPr lang="tr-TR" smtClean="0"/>
              <a:t>‹#›</a:t>
            </a:fld>
            <a:endParaRPr lang="tr-TR"/>
          </a:p>
        </p:txBody>
      </p:sp>
    </p:spTree>
    <p:extLst>
      <p:ext uri="{BB962C8B-B14F-4D97-AF65-F5344CB8AC3E}">
        <p14:creationId xmlns:p14="http://schemas.microsoft.com/office/powerpoint/2010/main" val="4034602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3124200"/>
            <a:ext cx="6477000" cy="1914144"/>
          </a:xfrm>
        </p:spPr>
        <p:txBody>
          <a:bodyPr vert="horz" lIns="45720" tIns="0" rIns="45720" bIns="0" rtlCol="0" anchor="b" anchorCtr="0">
            <a:noAutofit/>
          </a:bodyPr>
          <a:lstStyle>
            <a:lvl1pPr algn="l" defTabSz="914400" rtl="0" eaLnBrk="1" latinLnBrk="0" hangingPunct="1">
              <a:lnSpc>
                <a:spcPts val="5000"/>
              </a:lnSpc>
              <a:spcBef>
                <a:spcPct val="0"/>
              </a:spcBef>
              <a:buNone/>
              <a:defRPr sz="4600" kern="1200">
                <a:solidFill>
                  <a:schemeClr val="tx1"/>
                </a:solidFill>
                <a:latin typeface="+mj-lt"/>
                <a:ea typeface="+mj-ea"/>
                <a:cs typeface="+mj-cs"/>
              </a:defRPr>
            </a:lvl1pPr>
          </a:lstStyle>
          <a:p>
            <a:r>
              <a:rPr lang="en-US" smtClean="0"/>
              <a:t>Click to edit Master title style</a:t>
            </a:r>
            <a:endParaRPr/>
          </a:p>
        </p:txBody>
      </p:sp>
      <p:sp>
        <p:nvSpPr>
          <p:cNvPr id="3" name="Subtitle 2"/>
          <p:cNvSpPr>
            <a:spLocks noGrp="1"/>
          </p:cNvSpPr>
          <p:nvPr>
            <p:ph type="subTitle" idx="1"/>
          </p:nvPr>
        </p:nvSpPr>
        <p:spPr>
          <a:xfrm>
            <a:off x="2209800" y="5056632"/>
            <a:ext cx="6477000" cy="704088"/>
          </a:xfrm>
        </p:spPr>
        <p:txBody>
          <a:bodyPr vert="horz" lIns="91440" tIns="0" rIns="45720" bIns="0" rtlCol="0">
            <a:normAutofit/>
          </a:bodyPr>
          <a:lstStyle>
            <a:lvl1pPr marL="0" indent="0" algn="l" defTabSz="914400" rtl="0" eaLnBrk="1" latinLnBrk="0" hangingPunct="1">
              <a:lnSpc>
                <a:spcPts val="2600"/>
              </a:lnSpc>
              <a:spcBef>
                <a:spcPts val="2000"/>
              </a:spcBef>
              <a:buSzPct val="90000"/>
              <a:buFontTx/>
              <a:buNone/>
              <a:defRPr sz="2200" kern="1200">
                <a:solidFill>
                  <a:schemeClr val="tx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57200" y="6300216"/>
            <a:ext cx="1984248" cy="274320"/>
          </a:xfrm>
        </p:spPr>
        <p:txBody>
          <a:bodyPr vert="horz" lIns="91440" tIns="45720" rIns="91440" bIns="45720" rtlCol="0" anchor="ctr"/>
          <a:lstStyle>
            <a:lvl1pPr marL="0" algn="l" defTabSz="914400" rtl="0" eaLnBrk="1" latinLnBrk="0" hangingPunct="1">
              <a:defRPr sz="1100" kern="1200">
                <a:solidFill>
                  <a:schemeClr val="tx1"/>
                </a:solidFill>
                <a:latin typeface="Rockwell" pitchFamily="18" charset="0"/>
                <a:ea typeface="+mn-ea"/>
                <a:cs typeface="+mn-cs"/>
              </a:defRPr>
            </a:lvl1pPr>
          </a:lstStyle>
          <a:p>
            <a:fld id="{6A51A727-F5BA-8547-B51B-38F2B3C45A43}" type="datetimeFigureOut">
              <a:rPr lang="en-US" smtClean="0"/>
              <a:pPr/>
              <a:t>9/30/2024</a:t>
            </a:fld>
            <a:endParaRPr lang="en-US" dirty="0"/>
          </a:p>
        </p:txBody>
      </p:sp>
      <p:sp>
        <p:nvSpPr>
          <p:cNvPr id="5" name="Footer Placeholder 4"/>
          <p:cNvSpPr>
            <a:spLocks noGrp="1"/>
          </p:cNvSpPr>
          <p:nvPr>
            <p:ph type="ftr" sz="quarter" idx="11"/>
          </p:nvPr>
        </p:nvSpPr>
        <p:spPr>
          <a:xfrm>
            <a:off x="3959352" y="6300216"/>
            <a:ext cx="3813048" cy="274320"/>
          </a:xfrm>
        </p:spPr>
        <p:txBody>
          <a:bodyPr vert="horz" lIns="91440" tIns="45720" rIns="91440" bIns="45720" rtlCol="0" anchor="ctr"/>
          <a:lstStyle>
            <a:lvl1pPr marL="0" algn="l" defTabSz="914400" rtl="0" eaLnBrk="1" latinLnBrk="0" hangingPunct="1">
              <a:defRPr sz="1100" kern="1200">
                <a:solidFill>
                  <a:schemeClr val="tx1"/>
                </a:solidFill>
                <a:latin typeface="Rockwell" pitchFamily="18" charset="0"/>
                <a:ea typeface="+mn-ea"/>
                <a:cs typeface="+mn-cs"/>
              </a:defRPr>
            </a:lvl1pPr>
          </a:lstStyle>
          <a:p>
            <a:endParaRPr lang="en-US" dirty="0"/>
          </a:p>
        </p:txBody>
      </p:sp>
      <p:sp>
        <p:nvSpPr>
          <p:cNvPr id="6" name="Slide Number Placeholder 5"/>
          <p:cNvSpPr>
            <a:spLocks noGrp="1"/>
          </p:cNvSpPr>
          <p:nvPr>
            <p:ph type="sldNum" sz="quarter" idx="12"/>
          </p:nvPr>
        </p:nvSpPr>
        <p:spPr>
          <a:xfrm>
            <a:off x="8275320" y="6300216"/>
            <a:ext cx="685800" cy="274320"/>
          </a:xfrm>
        </p:spPr>
        <p:txBody>
          <a:bodyPr vert="horz" lIns="91440" tIns="45720" rIns="91440" bIns="45720" rtlCol="0" anchor="ctr"/>
          <a:lstStyle>
            <a:lvl1pPr marL="0" algn="r" defTabSz="914400" rtl="0" eaLnBrk="1" latinLnBrk="0" hangingPunct="1">
              <a:defRPr sz="1100" kern="1200">
                <a:solidFill>
                  <a:schemeClr val="tx1"/>
                </a:solidFill>
                <a:latin typeface="Rockwell" pitchFamily="18" charset="0"/>
                <a:ea typeface="+mn-ea"/>
                <a:cs typeface="+mn-cs"/>
              </a:defRPr>
            </a:lvl1pPr>
          </a:lstStyle>
          <a:p>
            <a:fld id="{AFC56213-B4C4-4C5C-8EAE-01416D175C4F}" type="slidenum">
              <a:rPr/>
              <a:pPr/>
              <a:t>‹#›</a:t>
            </a:fld>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C6687BE-C7F0-2E48-A7D9-9106ED12C951}"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Watermark">
    <p:bg>
      <p:bgRef idx="1003">
        <a:schemeClr val="bg2"/>
      </p:bgRef>
    </p:bg>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122215" y="3200400"/>
            <a:ext cx="8021782" cy="2209800"/>
          </a:xfrm>
        </p:spPr>
        <p:txBody>
          <a:bodyPr wrap="none" lIns="0" tIns="0" rIns="0" bIns="0" anchor="ctr" anchorCtr="0">
            <a:noAutofit/>
          </a:bodyPr>
          <a:lstStyle>
            <a:lvl1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1pPr>
            <a:lvl2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2pPr>
            <a:lvl3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3pPr>
            <a:lvl4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4pPr>
            <a:lvl5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5pPr>
          </a:lstStyle>
          <a:p>
            <a:pPr lvl="0"/>
            <a:r>
              <a:rPr lang="en-US" smtClean="0"/>
              <a:t>Click to edit Master text styles</a:t>
            </a:r>
          </a:p>
        </p:txBody>
      </p:sp>
      <p:sp>
        <p:nvSpPr>
          <p:cNvPr id="2" name="Title 1"/>
          <p:cNvSpPr>
            <a:spLocks noGrp="1"/>
          </p:cNvSpPr>
          <p:nvPr>
            <p:ph type="ctrTitle"/>
          </p:nvPr>
        </p:nvSpPr>
        <p:spPr>
          <a:xfrm>
            <a:off x="3960813" y="3833095"/>
            <a:ext cx="4724400" cy="1209964"/>
          </a:xfrm>
        </p:spPr>
        <p:txBody>
          <a:bodyPr lIns="45720" tIns="0" rIns="45720" bIns="0" anchor="b" anchorCtr="0">
            <a:noAutofit/>
          </a:bodyPr>
          <a:lstStyle>
            <a:lvl1pPr algn="l">
              <a:lnSpc>
                <a:spcPts val="5000"/>
              </a:lnSpc>
              <a:defRPr sz="4600"/>
            </a:lvl1pPr>
          </a:lstStyle>
          <a:p>
            <a:r>
              <a:rPr lang="en-US" smtClean="0"/>
              <a:t>Click to edit Master title style</a:t>
            </a:r>
            <a:endParaRPr/>
          </a:p>
        </p:txBody>
      </p:sp>
      <p:sp>
        <p:nvSpPr>
          <p:cNvPr id="3" name="Subtitle 2"/>
          <p:cNvSpPr>
            <a:spLocks noGrp="1"/>
          </p:cNvSpPr>
          <p:nvPr>
            <p:ph type="subTitle" idx="1"/>
          </p:nvPr>
        </p:nvSpPr>
        <p:spPr>
          <a:xfrm>
            <a:off x="3960813" y="5056909"/>
            <a:ext cx="4724400" cy="706586"/>
          </a:xfrm>
        </p:spPr>
        <p:txBody>
          <a:bodyPr lIns="91440" tIns="0" rIns="45720" bIns="0">
            <a:normAutofit/>
          </a:bodyPr>
          <a:lstStyle>
            <a:lvl1pPr marL="0" indent="0" algn="l">
              <a:lnSpc>
                <a:spcPts val="2600"/>
              </a:lnSpc>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57200" y="6298744"/>
            <a:ext cx="1981200" cy="273050"/>
          </a:xfrm>
        </p:spPr>
        <p:txBody>
          <a:bodyPr/>
          <a:lstStyle>
            <a:lvl1pPr algn="l">
              <a:defRPr sz="1100">
                <a:latin typeface="Rockwell" pitchFamily="18" charset="0"/>
              </a:defRPr>
            </a:lvl1pPr>
          </a:lstStyle>
          <a:p>
            <a:fld id="{6A51A727-F5BA-8547-B51B-38F2B3C45A43}" type="datetimeFigureOut">
              <a:rPr lang="en-US" smtClean="0"/>
              <a:pPr/>
              <a:t>9/30/2024</a:t>
            </a:fld>
            <a:endParaRPr lang="en-US" dirty="0"/>
          </a:p>
        </p:txBody>
      </p:sp>
      <p:sp>
        <p:nvSpPr>
          <p:cNvPr id="5" name="Footer Placeholder 4"/>
          <p:cNvSpPr>
            <a:spLocks noGrp="1"/>
          </p:cNvSpPr>
          <p:nvPr>
            <p:ph type="ftr" sz="quarter" idx="11"/>
          </p:nvPr>
        </p:nvSpPr>
        <p:spPr>
          <a:xfrm>
            <a:off x="3962400" y="6298744"/>
            <a:ext cx="3810000" cy="27305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264856" y="6312392"/>
            <a:ext cx="685800" cy="265089"/>
          </a:xfrm>
        </p:spPr>
        <p:txBody>
          <a:bodyPr/>
          <a:lstStyle>
            <a:lvl1pPr>
              <a:defRPr sz="1100">
                <a:solidFill>
                  <a:schemeClr val="tx1"/>
                </a:solidFill>
                <a:latin typeface="Rockwell" pitchFamily="18" charset="0"/>
              </a:defRPr>
            </a:lvl1pPr>
          </a:lstStyle>
          <a:p>
            <a:fld id="{5C6687BE-C7F0-2E48-A7D9-9106ED12C951}"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0"/>
            <a:ext cx="7772400" cy="1362075"/>
          </a:xfrm>
        </p:spPr>
        <p:txBody>
          <a:bodyPr vert="horz" lIns="45720" tIns="0" rIns="45720" bIns="0" rtlCol="0" anchor="b" anchorCtr="0">
            <a:noAutofit/>
          </a:bodyPr>
          <a:lstStyle>
            <a:lvl1pPr algn="l" defTabSz="914400" rtl="0" eaLnBrk="1" latinLnBrk="0" hangingPunct="1">
              <a:lnSpc>
                <a:spcPts val="5000"/>
              </a:lnSpc>
              <a:spcBef>
                <a:spcPct val="0"/>
              </a:spcBef>
              <a:buNone/>
              <a:defRPr sz="4600" b="1" kern="1200" cap="none" baseline="0">
                <a:solidFill>
                  <a:schemeClr val="tx1"/>
                </a:solidFill>
                <a:latin typeface="+mj-lt"/>
                <a:ea typeface="+mj-ea"/>
                <a:cs typeface="+mj-cs"/>
              </a:defRPr>
            </a:lvl1pPr>
          </a:lstStyle>
          <a:p>
            <a:r>
              <a:rPr lang="en-US" smtClean="0"/>
              <a:t>Click to edit Master title style</a:t>
            </a:r>
            <a:endParaRPr/>
          </a:p>
        </p:txBody>
      </p:sp>
      <p:sp>
        <p:nvSpPr>
          <p:cNvPr id="3" name="Text Placeholder 2"/>
          <p:cNvSpPr>
            <a:spLocks noGrp="1"/>
          </p:cNvSpPr>
          <p:nvPr>
            <p:ph type="body" idx="1"/>
          </p:nvPr>
        </p:nvSpPr>
        <p:spPr>
          <a:xfrm>
            <a:off x="457200" y="3557016"/>
            <a:ext cx="7772400" cy="987552"/>
          </a:xfrm>
        </p:spPr>
        <p:txBody>
          <a:bodyPr vert="horz" lIns="91440" tIns="0" rIns="45720" bIns="0" rtlCol="0" anchor="t" anchorCtr="0">
            <a:normAutofit/>
          </a:bodyPr>
          <a:lstStyle>
            <a:lvl1pPr marL="0" indent="0">
              <a:buNone/>
              <a:defRPr sz="2200" kern="1200">
                <a:solidFill>
                  <a:schemeClr val="tx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SzPct val="90000"/>
              <a:buFontTx/>
              <a:buNone/>
            </a:pPr>
            <a:r>
              <a:rPr lang="en-US" smtClean="0"/>
              <a:t>Click to edit Master text styles</a:t>
            </a:r>
          </a:p>
        </p:txBody>
      </p:sp>
      <p:sp>
        <p:nvSpPr>
          <p:cNvPr id="4" name="Date Placeholder 3"/>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C6687BE-C7F0-2E48-A7D9-9106ED12C951}"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Watermark">
    <p:bg>
      <p:bgRef idx="1002">
        <a:schemeClr val="bg2"/>
      </p:bgRef>
    </p:bg>
    <p:spTree>
      <p:nvGrpSpPr>
        <p:cNvPr id="1" name=""/>
        <p:cNvGrpSpPr/>
        <p:nvPr/>
      </p:nvGrpSpPr>
      <p:grpSpPr>
        <a:xfrm>
          <a:off x="0" y="0"/>
          <a:ext cx="0" cy="0"/>
          <a:chOff x="0" y="0"/>
          <a:chExt cx="0" cy="0"/>
        </a:xfrm>
      </p:grpSpPr>
      <p:sp>
        <p:nvSpPr>
          <p:cNvPr id="7" name="Text Placeholder 7"/>
          <p:cNvSpPr>
            <a:spLocks noGrp="1"/>
          </p:cNvSpPr>
          <p:nvPr>
            <p:ph type="body" sz="quarter" idx="13"/>
          </p:nvPr>
        </p:nvSpPr>
        <p:spPr>
          <a:xfrm>
            <a:off x="712693" y="1689847"/>
            <a:ext cx="8431303" cy="2209800"/>
          </a:xfrm>
        </p:spPr>
        <p:txBody>
          <a:bodyPr wrap="none" lIns="0" tIns="0" rIns="0" bIns="0" anchor="ctr" anchorCtr="0">
            <a:noAutofit/>
          </a:bodyPr>
          <a:lstStyle>
            <a:lvl1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1pPr>
            <a:lvl2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2pPr>
            <a:lvl3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3pPr>
            <a:lvl4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4pPr>
            <a:lvl5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5pPr>
          </a:lstStyle>
          <a:p>
            <a:pPr lvl="0"/>
            <a:r>
              <a:rPr lang="en-US" smtClean="0"/>
              <a:t>Click to edit Master text styles</a:t>
            </a:r>
          </a:p>
        </p:txBody>
      </p:sp>
      <p:sp>
        <p:nvSpPr>
          <p:cNvPr id="2" name="Title 1"/>
          <p:cNvSpPr>
            <a:spLocks noGrp="1"/>
          </p:cNvSpPr>
          <p:nvPr>
            <p:ph type="title"/>
          </p:nvPr>
        </p:nvSpPr>
        <p:spPr>
          <a:xfrm>
            <a:off x="457201" y="2196353"/>
            <a:ext cx="5334000" cy="1362075"/>
          </a:xfrm>
        </p:spPr>
        <p:txBody>
          <a:bodyPr lIns="45720" tIns="0" rIns="45720" bIns="0" anchor="b" anchorCtr="0"/>
          <a:lstStyle>
            <a:lvl1pPr algn="l">
              <a:lnSpc>
                <a:spcPts val="5000"/>
              </a:lnSpc>
              <a:defRPr sz="4600" b="1" cap="none" baseline="0"/>
            </a:lvl1pPr>
          </a:lstStyle>
          <a:p>
            <a:r>
              <a:rPr lang="en-US" smtClean="0"/>
              <a:t>Click to edit Master title style</a:t>
            </a:r>
            <a:endParaRPr/>
          </a:p>
        </p:txBody>
      </p:sp>
      <p:sp>
        <p:nvSpPr>
          <p:cNvPr id="3" name="Text Placeholder 2"/>
          <p:cNvSpPr>
            <a:spLocks noGrp="1"/>
          </p:cNvSpPr>
          <p:nvPr>
            <p:ph type="body" idx="1"/>
          </p:nvPr>
        </p:nvSpPr>
        <p:spPr>
          <a:xfrm>
            <a:off x="457200" y="3560618"/>
            <a:ext cx="5334000" cy="983087"/>
          </a:xfrm>
        </p:spPr>
        <p:txBody>
          <a:bodyPr tIns="0" rIns="45720" bIns="0" anchor="t" anchorCtr="0"/>
          <a:lstStyle>
            <a:lvl1pPr marL="0" indent="0">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C6687BE-C7F0-2E48-A7D9-9106ED12C951}"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152775" y="4069804"/>
            <a:ext cx="5538788" cy="1162050"/>
          </a:xfrm>
        </p:spPr>
        <p:txBody>
          <a:bodyPr tIns="0" bIns="0" anchor="b"/>
          <a:lstStyle>
            <a:lvl1pPr algn="l">
              <a:lnSpc>
                <a:spcPts val="4600"/>
              </a:lnSpc>
              <a:defRPr sz="4600" b="1"/>
            </a:lvl1pPr>
          </a:lstStyle>
          <a:p>
            <a:r>
              <a:rPr lang="en-US" smtClean="0"/>
              <a:t>Click to edit Master title style</a:t>
            </a:r>
            <a:endParaRPr/>
          </a:p>
        </p:txBody>
      </p:sp>
      <p:grpSp>
        <p:nvGrpSpPr>
          <p:cNvPr id="3" name="Group 8"/>
          <p:cNvGrpSpPr/>
          <p:nvPr/>
        </p:nvGrpSpPr>
        <p:grpSpPr>
          <a:xfrm rot="21240000">
            <a:off x="654352" y="445180"/>
            <a:ext cx="5416247" cy="3630168"/>
            <a:chOff x="1524000" y="381000"/>
            <a:chExt cx="3657600" cy="4737978"/>
          </a:xfrm>
        </p:grpSpPr>
        <p:sp>
          <p:nvSpPr>
            <p:cNvPr id="10" name="Rectangle 9"/>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Picture Placeholder 9"/>
          <p:cNvSpPr>
            <a:spLocks noGrp="1"/>
          </p:cNvSpPr>
          <p:nvPr>
            <p:ph type="pic" sz="quarter" idx="15"/>
          </p:nvPr>
        </p:nvSpPr>
        <p:spPr>
          <a:xfrm rot="21240000">
            <a:off x="857677" y="632632"/>
            <a:ext cx="5009597" cy="3255264"/>
          </a:xfrm>
          <a:solidFill>
            <a:schemeClr val="bg1">
              <a:lumMod val="85000"/>
            </a:schemeClr>
          </a:solidFill>
        </p:spPr>
        <p:txBody>
          <a:bodyPr/>
          <a:lstStyle>
            <a:lvl1pPr>
              <a:buNone/>
              <a:defRPr/>
            </a:lvl1pPr>
          </a:lstStyle>
          <a:p>
            <a:r>
              <a:rPr lang="en-US" smtClean="0"/>
              <a:t>Click icon to add picture</a:t>
            </a:r>
            <a:endParaRPr/>
          </a:p>
        </p:txBody>
      </p:sp>
      <p:sp>
        <p:nvSpPr>
          <p:cNvPr id="4" name="Text Placeholder 3"/>
          <p:cNvSpPr>
            <a:spLocks noGrp="1"/>
          </p:cNvSpPr>
          <p:nvPr>
            <p:ph type="body" sz="half" idx="2"/>
          </p:nvPr>
        </p:nvSpPr>
        <p:spPr>
          <a:xfrm>
            <a:off x="3158117" y="5230906"/>
            <a:ext cx="5532958" cy="865093"/>
          </a:xfrm>
        </p:spPr>
        <p:txBody>
          <a:bodyPr/>
          <a:lstStyle>
            <a:lvl1pPr marL="0" indent="0">
              <a:buNone/>
              <a:defRPr sz="2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C6687BE-C7F0-2E48-A7D9-9106ED12C951}"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914400" y="1735139"/>
            <a:ext cx="3566160" cy="4056062"/>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648200" y="1735139"/>
            <a:ext cx="3566160" cy="4056062"/>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C6687BE-C7F0-2E48-A7D9-9106ED12C951}"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971326" y="1419366"/>
            <a:ext cx="3200400" cy="584035"/>
          </a:xfrm>
        </p:spPr>
        <p:txBody>
          <a:bodyPr anchor="b"/>
          <a:lstStyle>
            <a:lvl1pPr marL="0" indent="0" algn="ctr">
              <a:buNone/>
              <a:defRPr sz="2200" b="0">
                <a:solidFill>
                  <a:schemeClr val="tx2">
                    <a:lumMod val="60000"/>
                    <a:lumOff val="40000"/>
                  </a:schemeClr>
                </a:solidFill>
                <a:latin typeface="Impact"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97367" y="2174875"/>
            <a:ext cx="3566160" cy="3616325"/>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930247" y="1419366"/>
            <a:ext cx="3200400" cy="584035"/>
          </a:xfrm>
        </p:spPr>
        <p:txBody>
          <a:bodyPr anchor="b"/>
          <a:lstStyle>
            <a:lvl1pPr marL="0" indent="0" algn="ctr">
              <a:buNone/>
              <a:defRPr sz="2200" b="0">
                <a:solidFill>
                  <a:schemeClr val="tx2">
                    <a:lumMod val="60000"/>
                    <a:lumOff val="40000"/>
                  </a:schemeClr>
                </a:solidFill>
                <a:latin typeface="Impact"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6514" y="2174875"/>
            <a:ext cx="3566160" cy="3616325"/>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C6687BE-C7F0-2E48-A7D9-9106ED12C951}" type="slidenum">
              <a:rPr lang="en-US" smtClean="0"/>
              <a:pPr/>
              <a:t>‹#›</a:t>
            </a:fld>
            <a:endParaRPr lang="en-US" dirty="0"/>
          </a:p>
        </p:txBody>
      </p:sp>
      <p:pic>
        <p:nvPicPr>
          <p:cNvPr id="11" name="Picture 10" descr="Comparison-Underline.png"/>
          <p:cNvPicPr>
            <a:picLocks noChangeAspect="1"/>
          </p:cNvPicPr>
          <p:nvPr/>
        </p:nvPicPr>
        <p:blipFill>
          <a:blip r:embed="rId2"/>
          <a:stretch>
            <a:fillRect/>
          </a:stretch>
        </p:blipFill>
        <p:spPr>
          <a:xfrm>
            <a:off x="957039" y="1897040"/>
            <a:ext cx="3228975" cy="142875"/>
          </a:xfrm>
          <a:prstGeom prst="rect">
            <a:avLst/>
          </a:prstGeom>
        </p:spPr>
      </p:pic>
      <p:pic>
        <p:nvPicPr>
          <p:cNvPr id="13" name="Picture 12" descr="Comparison-Underline.png"/>
          <p:cNvPicPr>
            <a:picLocks noChangeAspect="1"/>
          </p:cNvPicPr>
          <p:nvPr/>
        </p:nvPicPr>
        <p:blipFill>
          <a:blip r:embed="rId2"/>
          <a:stretch>
            <a:fillRect/>
          </a:stretch>
        </p:blipFill>
        <p:spPr>
          <a:xfrm>
            <a:off x="4915960" y="1897040"/>
            <a:ext cx="3228975" cy="142875"/>
          </a:xfrm>
          <a:prstGeom prst="rect">
            <a:avLst/>
          </a:prstGeom>
        </p:spPr>
      </p:pic>
      <p:pic>
        <p:nvPicPr>
          <p:cNvPr id="12" name="Picture 11" descr="Comparison-Underline.png"/>
          <p:cNvPicPr>
            <a:picLocks noChangeAspect="1"/>
          </p:cNvPicPr>
          <p:nvPr/>
        </p:nvPicPr>
        <p:blipFill>
          <a:blip r:embed="rId2"/>
          <a:stretch>
            <a:fillRect/>
          </a:stretch>
        </p:blipFill>
        <p:spPr>
          <a:xfrm>
            <a:off x="957039" y="1897040"/>
            <a:ext cx="3228975" cy="142875"/>
          </a:xfrm>
          <a:prstGeom prst="rect">
            <a:avLst/>
          </a:prstGeom>
        </p:spPr>
      </p:pic>
      <p:pic>
        <p:nvPicPr>
          <p:cNvPr id="14" name="Picture 13" descr="Comparison-Underline.png"/>
          <p:cNvPicPr>
            <a:picLocks noChangeAspect="1"/>
          </p:cNvPicPr>
          <p:nvPr/>
        </p:nvPicPr>
        <p:blipFill>
          <a:blip r:embed="rId2"/>
          <a:stretch>
            <a:fillRect/>
          </a:stretch>
        </p:blipFill>
        <p:spPr>
          <a:xfrm>
            <a:off x="4915960" y="1897040"/>
            <a:ext cx="3228975" cy="14287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914400" y="1735138"/>
            <a:ext cx="731520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C6687BE-C7F0-2E48-A7D9-9106ED12C951}" type="slidenum">
              <a:rPr lang="en-US" smtClean="0"/>
              <a:pPr/>
              <a:t>‹#›</a:t>
            </a:fld>
            <a:endParaRPr lang="en-US" dirty="0"/>
          </a:p>
        </p:txBody>
      </p:sp>
      <p:sp>
        <p:nvSpPr>
          <p:cNvPr id="8" name="Content Placeholder 2"/>
          <p:cNvSpPr>
            <a:spLocks noGrp="1"/>
          </p:cNvSpPr>
          <p:nvPr>
            <p:ph sz="half" idx="13"/>
          </p:nvPr>
        </p:nvSpPr>
        <p:spPr>
          <a:xfrm>
            <a:off x="914400" y="3870960"/>
            <a:ext cx="731520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C6687BE-C7F0-2E48-A7D9-9106ED12C951}" type="slidenum">
              <a:rPr lang="en-US" smtClean="0"/>
              <a:pPr/>
              <a:t>‹#›</a:t>
            </a:fld>
            <a:endParaRPr lang="en-US" dirty="0"/>
          </a:p>
        </p:txBody>
      </p:sp>
      <p:sp>
        <p:nvSpPr>
          <p:cNvPr id="11" name="Content Placeholder 2"/>
          <p:cNvSpPr>
            <a:spLocks noGrp="1"/>
          </p:cNvSpPr>
          <p:nvPr>
            <p:ph sz="half" idx="14"/>
          </p:nvPr>
        </p:nvSpPr>
        <p:spPr>
          <a:xfrm>
            <a:off x="4645152" y="1735138"/>
            <a:ext cx="356616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2" name="Content Placeholder 2"/>
          <p:cNvSpPr>
            <a:spLocks noGrp="1"/>
          </p:cNvSpPr>
          <p:nvPr>
            <p:ph sz="half" idx="15"/>
          </p:nvPr>
        </p:nvSpPr>
        <p:spPr>
          <a:xfrm>
            <a:off x="4645152" y="3870960"/>
            <a:ext cx="356616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0" name="Content Placeholder 2"/>
          <p:cNvSpPr>
            <a:spLocks noGrp="1"/>
          </p:cNvSpPr>
          <p:nvPr>
            <p:ph sz="half" idx="1"/>
          </p:nvPr>
        </p:nvSpPr>
        <p:spPr>
          <a:xfrm>
            <a:off x="914400" y="1735139"/>
            <a:ext cx="3566160" cy="4056062"/>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914400" y="1735138"/>
            <a:ext cx="356616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C6687BE-C7F0-2E48-A7D9-9106ED12C951}" type="slidenum">
              <a:rPr lang="en-US" smtClean="0"/>
              <a:pPr/>
              <a:t>‹#›</a:t>
            </a:fld>
            <a:endParaRPr lang="en-US" dirty="0"/>
          </a:p>
        </p:txBody>
      </p:sp>
      <p:sp>
        <p:nvSpPr>
          <p:cNvPr id="8" name="Content Placeholder 2"/>
          <p:cNvSpPr>
            <a:spLocks noGrp="1"/>
          </p:cNvSpPr>
          <p:nvPr>
            <p:ph sz="half" idx="13"/>
          </p:nvPr>
        </p:nvSpPr>
        <p:spPr>
          <a:xfrm>
            <a:off x="914400" y="3870960"/>
            <a:ext cx="356616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1" name="Content Placeholder 2"/>
          <p:cNvSpPr>
            <a:spLocks noGrp="1"/>
          </p:cNvSpPr>
          <p:nvPr>
            <p:ph sz="half" idx="14"/>
          </p:nvPr>
        </p:nvSpPr>
        <p:spPr>
          <a:xfrm>
            <a:off x="4645152" y="1735138"/>
            <a:ext cx="356616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2" name="Content Placeholder 2"/>
          <p:cNvSpPr>
            <a:spLocks noGrp="1"/>
          </p:cNvSpPr>
          <p:nvPr>
            <p:ph sz="half" idx="15"/>
          </p:nvPr>
        </p:nvSpPr>
        <p:spPr>
          <a:xfrm>
            <a:off x="4645152" y="3870960"/>
            <a:ext cx="356616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C6687BE-C7F0-2E48-A7D9-9106ED12C951}"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C6687BE-C7F0-2E48-A7D9-9106ED12C951}"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690048"/>
            <a:ext cx="3563938" cy="1162050"/>
          </a:xfrm>
        </p:spPr>
        <p:txBody>
          <a:bodyPr tIns="0" bIns="0" anchor="b"/>
          <a:lstStyle>
            <a:lvl1pPr algn="l">
              <a:lnSpc>
                <a:spcPts val="4600"/>
              </a:lnSpc>
              <a:defRPr sz="4200" b="1"/>
            </a:lvl1pPr>
          </a:lstStyle>
          <a:p>
            <a:r>
              <a:rPr lang="en-US" smtClean="0"/>
              <a:t>Click to edit Master title style</a:t>
            </a:r>
            <a:endParaRPr/>
          </a:p>
        </p:txBody>
      </p:sp>
      <p:sp>
        <p:nvSpPr>
          <p:cNvPr id="3" name="Content Placeholder 2"/>
          <p:cNvSpPr>
            <a:spLocks noGrp="1"/>
          </p:cNvSpPr>
          <p:nvPr>
            <p:ph idx="1"/>
          </p:nvPr>
        </p:nvSpPr>
        <p:spPr>
          <a:xfrm>
            <a:off x="4667250" y="368490"/>
            <a:ext cx="3566160" cy="5627498"/>
          </a:xfrm>
        </p:spPr>
        <p:txBody>
          <a:bodyPr/>
          <a:lstStyle>
            <a:lvl1pPr>
              <a:defRPr sz="2200"/>
            </a:lvl1pPr>
            <a:lvl2pPr>
              <a:defRPr sz="20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914398" y="2866030"/>
            <a:ext cx="3563938" cy="2163171"/>
          </a:xfrm>
        </p:spPr>
        <p:txBody>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97EE3FD-0A41-48FF-9850-002E446D12C3}" type="slidenum">
              <a:rPr smtClean="0"/>
              <a:pP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17546" y="1524000"/>
            <a:ext cx="3566160" cy="1162050"/>
          </a:xfrm>
        </p:spPr>
        <p:txBody>
          <a:bodyPr tIns="0" bIns="0" anchor="b"/>
          <a:lstStyle>
            <a:lvl1pPr algn="l">
              <a:lnSpc>
                <a:spcPts val="4600"/>
              </a:lnSpc>
              <a:defRPr sz="4200" b="1"/>
            </a:lvl1pPr>
          </a:lstStyle>
          <a:p>
            <a:r>
              <a:rPr lang="en-US" smtClean="0"/>
              <a:t>Click to edit Master title style</a:t>
            </a:r>
            <a:endParaRPr/>
          </a:p>
        </p:txBody>
      </p:sp>
      <p:sp>
        <p:nvSpPr>
          <p:cNvPr id="4" name="Text Placeholder 3"/>
          <p:cNvSpPr>
            <a:spLocks noGrp="1"/>
          </p:cNvSpPr>
          <p:nvPr>
            <p:ph type="body" sz="half" idx="2"/>
          </p:nvPr>
        </p:nvSpPr>
        <p:spPr>
          <a:xfrm>
            <a:off x="5017544" y="2699982"/>
            <a:ext cx="3566160" cy="2163171"/>
          </a:xfrm>
        </p:spPr>
        <p:txBody>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C6687BE-C7F0-2E48-A7D9-9106ED12C951}" type="slidenum">
              <a:rPr lang="en-US" smtClean="0"/>
              <a:pPr/>
              <a:t>‹#›</a:t>
            </a:fld>
            <a:endParaRPr lang="en-US" dirty="0"/>
          </a:p>
        </p:txBody>
      </p:sp>
      <p:grpSp>
        <p:nvGrpSpPr>
          <p:cNvPr id="3" name="Group 7"/>
          <p:cNvGrpSpPr/>
          <p:nvPr/>
        </p:nvGrpSpPr>
        <p:grpSpPr>
          <a:xfrm rot="21421631">
            <a:off x="629028" y="505650"/>
            <a:ext cx="3850925" cy="5516274"/>
            <a:chOff x="1524000" y="381000"/>
            <a:chExt cx="3657600" cy="4737978"/>
          </a:xfrm>
        </p:grpSpPr>
        <p:sp>
          <p:nvSpPr>
            <p:cNvPr id="10" name="Rectangle 9"/>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Picture Placeholder 9"/>
          <p:cNvSpPr>
            <a:spLocks noGrp="1"/>
          </p:cNvSpPr>
          <p:nvPr>
            <p:ph type="pic" sz="quarter" idx="14"/>
          </p:nvPr>
        </p:nvSpPr>
        <p:spPr>
          <a:xfrm rot="21421631">
            <a:off x="808793" y="667560"/>
            <a:ext cx="3468664" cy="5124723"/>
          </a:xfrm>
          <a:solidFill>
            <a:schemeClr val="bg1">
              <a:lumMod val="85000"/>
            </a:schemeClr>
          </a:solidFill>
        </p:spPr>
        <p:txBody>
          <a:bodyPr/>
          <a:lstStyle>
            <a:lvl1pPr>
              <a:buNone/>
              <a:defRPr/>
            </a:lvl1pPr>
          </a:lstStyle>
          <a:p>
            <a:r>
              <a:rPr lang="en-US" smtClean="0"/>
              <a:t>Click icon to add picture</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grpSp>
        <p:nvGrpSpPr>
          <p:cNvPr id="3" name="Group 13"/>
          <p:cNvGrpSpPr/>
          <p:nvPr/>
        </p:nvGrpSpPr>
        <p:grpSpPr>
          <a:xfrm rot="21214351">
            <a:off x="313409" y="3520798"/>
            <a:ext cx="4088024" cy="3026020"/>
            <a:chOff x="1524000" y="381000"/>
            <a:chExt cx="3657600" cy="4737978"/>
          </a:xfrm>
        </p:grpSpPr>
        <p:sp>
          <p:nvSpPr>
            <p:cNvPr id="15" name="Rectangle 14"/>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Rectangle 15"/>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7" name="Picture Placeholder 9"/>
          <p:cNvSpPr>
            <a:spLocks noGrp="1"/>
          </p:cNvSpPr>
          <p:nvPr>
            <p:ph type="pic" sz="quarter" idx="16"/>
          </p:nvPr>
        </p:nvSpPr>
        <p:spPr>
          <a:xfrm rot="21214351">
            <a:off x="491057" y="3682579"/>
            <a:ext cx="3704109" cy="2697083"/>
          </a:xfrm>
          <a:solidFill>
            <a:schemeClr val="bg1">
              <a:lumMod val="85000"/>
            </a:schemeClr>
          </a:solidFill>
        </p:spPr>
        <p:txBody>
          <a:bodyPr/>
          <a:lstStyle>
            <a:lvl1pPr>
              <a:buNone/>
              <a:defRPr/>
            </a:lvl1pPr>
          </a:lstStyle>
          <a:p>
            <a:r>
              <a:rPr lang="en-US" smtClean="0"/>
              <a:t>Click icon to add picture</a:t>
            </a:r>
            <a:endParaRPr/>
          </a:p>
        </p:txBody>
      </p:sp>
      <p:grpSp>
        <p:nvGrpSpPr>
          <p:cNvPr id="8" name="Group 9"/>
          <p:cNvGrpSpPr/>
          <p:nvPr/>
        </p:nvGrpSpPr>
        <p:grpSpPr>
          <a:xfrm rot="232774">
            <a:off x="169481" y="241256"/>
            <a:ext cx="4088024" cy="3026020"/>
            <a:chOff x="1524000" y="381000"/>
            <a:chExt cx="3657600" cy="4737978"/>
          </a:xfrm>
        </p:grpSpPr>
        <p:sp>
          <p:nvSpPr>
            <p:cNvPr id="11" name="Rectangle 10"/>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Picture Placeholder 9"/>
          <p:cNvSpPr>
            <a:spLocks noGrp="1"/>
          </p:cNvSpPr>
          <p:nvPr>
            <p:ph type="pic" sz="quarter" idx="15"/>
          </p:nvPr>
        </p:nvSpPr>
        <p:spPr>
          <a:xfrm rot="232774">
            <a:off x="347129" y="403037"/>
            <a:ext cx="3704109" cy="2697083"/>
          </a:xfrm>
          <a:solidFill>
            <a:schemeClr val="bg1">
              <a:lumMod val="85000"/>
            </a:schemeClr>
          </a:solidFill>
        </p:spPr>
        <p:txBody>
          <a:bodyPr/>
          <a:lstStyle>
            <a:lvl1pPr>
              <a:buNone/>
              <a:defRPr/>
            </a:lvl1pPr>
          </a:lstStyle>
          <a:p>
            <a:r>
              <a:rPr lang="en-US" smtClean="0"/>
              <a:t>Click icon to add picture</a:t>
            </a:r>
            <a:endParaRPr/>
          </a:p>
        </p:txBody>
      </p:sp>
      <p:sp>
        <p:nvSpPr>
          <p:cNvPr id="2" name="Title 1"/>
          <p:cNvSpPr>
            <a:spLocks noGrp="1"/>
          </p:cNvSpPr>
          <p:nvPr>
            <p:ph type="title"/>
          </p:nvPr>
        </p:nvSpPr>
        <p:spPr>
          <a:xfrm>
            <a:off x="5013434" y="1524000"/>
            <a:ext cx="3566160" cy="1162050"/>
          </a:xfrm>
        </p:spPr>
        <p:txBody>
          <a:bodyPr tIns="0" bIns="0" anchor="b"/>
          <a:lstStyle>
            <a:lvl1pPr algn="l">
              <a:lnSpc>
                <a:spcPts val="4600"/>
              </a:lnSpc>
              <a:defRPr sz="4200" b="1"/>
            </a:lvl1pPr>
          </a:lstStyle>
          <a:p>
            <a:r>
              <a:rPr lang="en-US" smtClean="0"/>
              <a:t>Click to edit Master title style</a:t>
            </a:r>
            <a:endParaRPr/>
          </a:p>
        </p:txBody>
      </p:sp>
      <p:sp>
        <p:nvSpPr>
          <p:cNvPr id="4" name="Text Placeholder 3"/>
          <p:cNvSpPr>
            <a:spLocks noGrp="1"/>
          </p:cNvSpPr>
          <p:nvPr>
            <p:ph type="body" sz="half" idx="2"/>
          </p:nvPr>
        </p:nvSpPr>
        <p:spPr>
          <a:xfrm>
            <a:off x="5013432" y="2699982"/>
            <a:ext cx="3566160" cy="2163171"/>
          </a:xfrm>
        </p:spPr>
        <p:txBody>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C6687BE-C7F0-2E48-A7D9-9106ED12C951}" type="slidenum">
              <a:rPr lang="en-US" smtClean="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3762374"/>
            <a:ext cx="7315200" cy="1162050"/>
          </a:xfrm>
        </p:spPr>
        <p:txBody>
          <a:bodyPr tIns="0" bIns="0" anchor="b"/>
          <a:lstStyle>
            <a:lvl1pPr algn="l">
              <a:lnSpc>
                <a:spcPts val="4600"/>
              </a:lnSpc>
              <a:defRPr sz="3600" b="1"/>
            </a:lvl1pPr>
          </a:lstStyle>
          <a:p>
            <a:r>
              <a:rPr lang="en-US" smtClean="0"/>
              <a:t>Click to edit Master title style</a:t>
            </a:r>
            <a:endParaRPr/>
          </a:p>
        </p:txBody>
      </p:sp>
      <p:grpSp>
        <p:nvGrpSpPr>
          <p:cNvPr id="3" name="Group 8"/>
          <p:cNvGrpSpPr/>
          <p:nvPr/>
        </p:nvGrpSpPr>
        <p:grpSpPr>
          <a:xfrm rot="232774">
            <a:off x="2059282" y="379100"/>
            <a:ext cx="5031327" cy="3443312"/>
            <a:chOff x="1524000" y="381000"/>
            <a:chExt cx="3657600" cy="4737978"/>
          </a:xfrm>
        </p:grpSpPr>
        <p:sp>
          <p:nvSpPr>
            <p:cNvPr id="10" name="Rectangle 9"/>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4" name="Text Placeholder 3"/>
          <p:cNvSpPr>
            <a:spLocks noGrp="1"/>
          </p:cNvSpPr>
          <p:nvPr>
            <p:ph type="body" sz="half" idx="2"/>
          </p:nvPr>
        </p:nvSpPr>
        <p:spPr>
          <a:xfrm>
            <a:off x="914400" y="4928736"/>
            <a:ext cx="7315200" cy="987970"/>
          </a:xfrm>
        </p:spPr>
        <p:txBody>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C6687BE-C7F0-2E48-A7D9-9106ED12C951}" type="slidenum">
              <a:rPr lang="en-US" smtClean="0"/>
              <a:pPr/>
              <a:t>‹#›</a:t>
            </a:fld>
            <a:endParaRPr lang="en-US" dirty="0"/>
          </a:p>
        </p:txBody>
      </p:sp>
      <p:sp>
        <p:nvSpPr>
          <p:cNvPr id="12" name="Picture Placeholder 9"/>
          <p:cNvSpPr>
            <a:spLocks noGrp="1"/>
          </p:cNvSpPr>
          <p:nvPr>
            <p:ph type="pic" sz="quarter" idx="15"/>
          </p:nvPr>
        </p:nvSpPr>
        <p:spPr>
          <a:xfrm rot="232774">
            <a:off x="2248157" y="564564"/>
            <a:ext cx="4653577" cy="3072384"/>
          </a:xfrm>
          <a:solidFill>
            <a:schemeClr val="bg1">
              <a:lumMod val="85000"/>
            </a:schemeClr>
          </a:solidFill>
        </p:spPr>
        <p:txBody>
          <a:bodyPr/>
          <a:lstStyle>
            <a:lvl1pPr>
              <a:buNone/>
              <a:defRPr/>
            </a:lvl1pPr>
          </a:lstStyle>
          <a:p>
            <a:r>
              <a:rPr lang="en-US" smtClean="0"/>
              <a:t>Click icon to add picture</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Pictures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3762374"/>
            <a:ext cx="7315200" cy="1162050"/>
          </a:xfrm>
        </p:spPr>
        <p:txBody>
          <a:bodyPr tIns="0" bIns="0" anchor="b"/>
          <a:lstStyle>
            <a:lvl1pPr algn="l">
              <a:lnSpc>
                <a:spcPts val="4600"/>
              </a:lnSpc>
              <a:defRPr sz="3600" b="1"/>
            </a:lvl1pPr>
          </a:lstStyle>
          <a:p>
            <a:r>
              <a:rPr lang="en-US" smtClean="0"/>
              <a:t>Click to edit Master title style</a:t>
            </a:r>
            <a:endParaRPr/>
          </a:p>
        </p:txBody>
      </p:sp>
      <p:grpSp>
        <p:nvGrpSpPr>
          <p:cNvPr id="3" name="Group 13"/>
          <p:cNvGrpSpPr/>
          <p:nvPr/>
        </p:nvGrpSpPr>
        <p:grpSpPr>
          <a:xfrm rot="21420000">
            <a:off x="113687" y="116368"/>
            <a:ext cx="3969060" cy="3705360"/>
            <a:chOff x="1524000" y="381000"/>
            <a:chExt cx="3657600" cy="4737978"/>
          </a:xfrm>
        </p:grpSpPr>
        <p:sp>
          <p:nvSpPr>
            <p:cNvPr id="15" name="Rectangle 14"/>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Rectangle 15"/>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7" name="Picture Placeholder 9"/>
          <p:cNvSpPr>
            <a:spLocks noGrp="1"/>
          </p:cNvSpPr>
          <p:nvPr>
            <p:ph type="pic" sz="quarter" idx="17"/>
          </p:nvPr>
        </p:nvSpPr>
        <p:spPr>
          <a:xfrm rot="21420000">
            <a:off x="299151" y="304998"/>
            <a:ext cx="3598455" cy="3334235"/>
          </a:xfrm>
          <a:solidFill>
            <a:schemeClr val="bg1">
              <a:lumMod val="85000"/>
            </a:schemeClr>
          </a:solidFill>
        </p:spPr>
        <p:txBody>
          <a:bodyPr/>
          <a:lstStyle>
            <a:lvl1pPr>
              <a:buNone/>
              <a:defRPr/>
            </a:lvl1pPr>
          </a:lstStyle>
          <a:p>
            <a:r>
              <a:rPr lang="en-US" smtClean="0"/>
              <a:t>Click icon to add picture</a:t>
            </a:r>
            <a:endParaRPr/>
          </a:p>
        </p:txBody>
      </p:sp>
      <p:grpSp>
        <p:nvGrpSpPr>
          <p:cNvPr id="8" name="Group 9"/>
          <p:cNvGrpSpPr/>
          <p:nvPr/>
        </p:nvGrpSpPr>
        <p:grpSpPr>
          <a:xfrm rot="360000">
            <a:off x="4165479" y="323141"/>
            <a:ext cx="4792693" cy="3443312"/>
            <a:chOff x="1524000" y="381000"/>
            <a:chExt cx="3657600" cy="4737978"/>
          </a:xfrm>
        </p:grpSpPr>
        <p:sp>
          <p:nvSpPr>
            <p:cNvPr id="11" name="Rectangle 10"/>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Picture Placeholder 9"/>
          <p:cNvSpPr>
            <a:spLocks noGrp="1"/>
          </p:cNvSpPr>
          <p:nvPr>
            <p:ph type="pic" sz="quarter" idx="16"/>
          </p:nvPr>
        </p:nvSpPr>
        <p:spPr>
          <a:xfrm rot="360000">
            <a:off x="4336486" y="507668"/>
            <a:ext cx="4432860" cy="3072384"/>
          </a:xfrm>
          <a:solidFill>
            <a:schemeClr val="bg1">
              <a:lumMod val="85000"/>
            </a:schemeClr>
          </a:solidFill>
        </p:spPr>
        <p:txBody>
          <a:bodyPr/>
          <a:lstStyle>
            <a:lvl1pPr>
              <a:buNone/>
              <a:defRPr/>
            </a:lvl1pPr>
          </a:lstStyle>
          <a:p>
            <a:r>
              <a:rPr lang="en-US" smtClean="0"/>
              <a:t>Click icon to add picture</a:t>
            </a:r>
            <a:endParaRPr/>
          </a:p>
        </p:txBody>
      </p:sp>
      <p:sp>
        <p:nvSpPr>
          <p:cNvPr id="4" name="Text Placeholder 3"/>
          <p:cNvSpPr>
            <a:spLocks noGrp="1"/>
          </p:cNvSpPr>
          <p:nvPr>
            <p:ph type="body" sz="half" idx="2"/>
          </p:nvPr>
        </p:nvSpPr>
        <p:spPr>
          <a:xfrm>
            <a:off x="914400" y="4926106"/>
            <a:ext cx="7315200" cy="990600"/>
          </a:xfrm>
        </p:spPr>
        <p:txBody>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C6687BE-C7F0-2E48-A7D9-9106ED12C951}" type="slidenum">
              <a:rPr lang="en-US" smtClean="0"/>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C6687BE-C7F0-2E48-A7D9-9106ED12C951}" type="slidenum">
              <a:rPr lang="en-US" smtClean="0"/>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51682" y="450851"/>
            <a:ext cx="846083" cy="535781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914400" y="450851"/>
            <a:ext cx="5943600" cy="53578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6A51A727-F5BA-8547-B51B-38F2B3C45A43}" type="datetimeFigureOut">
              <a:rPr lang="en-US" smtClean="0"/>
              <a:pPr/>
              <a:t>9/30/2024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C6687BE-C7F0-2E48-A7D9-9106ED12C95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8.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7.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503238"/>
            <a:ext cx="7313613" cy="868362"/>
          </a:xfrm>
          <a:prstGeom prst="rect">
            <a:avLst/>
          </a:prstGeom>
        </p:spPr>
        <p:txBody>
          <a:bodyPr vert="horz" lIns="91440" tIns="45720" rIns="91440" bIns="45720" rtlCol="0" anchor="ctr">
            <a:noAutofit/>
          </a:bodyPr>
          <a:lstStyle/>
          <a:p>
            <a:r>
              <a:rPr lang="en-US" smtClean="0"/>
              <a:t>Click to edit Master title style</a:t>
            </a:r>
            <a:endParaRPr/>
          </a:p>
        </p:txBody>
      </p:sp>
      <p:sp>
        <p:nvSpPr>
          <p:cNvPr id="3" name="Text Placeholder 2"/>
          <p:cNvSpPr>
            <a:spLocks noGrp="1"/>
          </p:cNvSpPr>
          <p:nvPr>
            <p:ph type="body" idx="1"/>
          </p:nvPr>
        </p:nvSpPr>
        <p:spPr>
          <a:xfrm>
            <a:off x="914400" y="1735138"/>
            <a:ext cx="7313613" cy="405606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7663438" y="6314461"/>
            <a:ext cx="1295400" cy="265089"/>
          </a:xfrm>
          <a:prstGeom prst="rect">
            <a:avLst/>
          </a:prstGeom>
        </p:spPr>
        <p:txBody>
          <a:bodyPr vert="horz" lIns="91440" tIns="45720" rIns="91440" bIns="45720" rtlCol="0" anchor="ctr"/>
          <a:lstStyle>
            <a:lvl1pPr algn="r">
              <a:defRPr sz="1100">
                <a:solidFill>
                  <a:schemeClr val="tx1"/>
                </a:solidFill>
                <a:latin typeface="Rockwell" pitchFamily="18" charset="0"/>
              </a:defRPr>
            </a:lvl1pPr>
          </a:lstStyle>
          <a:p>
            <a:fld id="{6A51A727-F5BA-8547-B51B-38F2B3C45A43}" type="datetimeFigureOut">
              <a:rPr lang="en-US" smtClean="0"/>
              <a:pPr/>
              <a:t>9/30/2024</a:t>
            </a:fld>
            <a:endParaRPr lang="en-US" dirty="0"/>
          </a:p>
        </p:txBody>
      </p:sp>
      <p:sp>
        <p:nvSpPr>
          <p:cNvPr id="5" name="Footer Placeholder 4"/>
          <p:cNvSpPr>
            <a:spLocks noGrp="1"/>
          </p:cNvSpPr>
          <p:nvPr>
            <p:ph type="ftr" sz="quarter" idx="3"/>
          </p:nvPr>
        </p:nvSpPr>
        <p:spPr>
          <a:xfrm>
            <a:off x="3942607" y="6305797"/>
            <a:ext cx="3717967" cy="259278"/>
          </a:xfrm>
          <a:prstGeom prst="rect">
            <a:avLst/>
          </a:prstGeom>
        </p:spPr>
        <p:txBody>
          <a:bodyPr vert="horz" lIns="91440" tIns="45720" rIns="91440" bIns="45720" rtlCol="0" anchor="ctr"/>
          <a:lstStyle>
            <a:lvl1pPr algn="r">
              <a:defRPr sz="1100">
                <a:solidFill>
                  <a:schemeClr val="tx1"/>
                </a:solidFill>
                <a:latin typeface="Rockwell" pitchFamily="18" charset="0"/>
              </a:defRPr>
            </a:lvl1pPr>
          </a:lstStyle>
          <a:p>
            <a:endParaRPr lang="en-US" dirty="0"/>
          </a:p>
        </p:txBody>
      </p:sp>
      <p:sp>
        <p:nvSpPr>
          <p:cNvPr id="6" name="Slide Number Placeholder 5"/>
          <p:cNvSpPr>
            <a:spLocks noGrp="1"/>
          </p:cNvSpPr>
          <p:nvPr>
            <p:ph type="sldNum" sz="quarter" idx="4"/>
          </p:nvPr>
        </p:nvSpPr>
        <p:spPr>
          <a:xfrm>
            <a:off x="7521388" y="5476097"/>
            <a:ext cx="1483056" cy="851848"/>
          </a:xfrm>
          <a:prstGeom prst="rect">
            <a:avLst/>
          </a:prstGeom>
        </p:spPr>
        <p:txBody>
          <a:bodyPr vert="horz" lIns="91440" tIns="45720" rIns="91440" bIns="45720" rtlCol="0" anchor="ctr"/>
          <a:lstStyle>
            <a:lvl1pPr algn="r">
              <a:defRPr sz="8200">
                <a:gradFill>
                  <a:gsLst>
                    <a:gs pos="0">
                      <a:schemeClr val="tx1">
                        <a:alpha val="10000"/>
                      </a:schemeClr>
                    </a:gs>
                    <a:gs pos="100000">
                      <a:schemeClr val="tx1">
                        <a:alpha val="10000"/>
                      </a:schemeClr>
                    </a:gs>
                  </a:gsLst>
                  <a:lin ang="5400000" scaled="0"/>
                </a:gradFill>
                <a:latin typeface="Impact" pitchFamily="34" charset="0"/>
              </a:defRPr>
            </a:lvl1pPr>
          </a:lstStyle>
          <a:p>
            <a:fld id="{5C6687BE-C7F0-2E48-A7D9-9106ED12C951}"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ctr" defTabSz="914400" rtl="0" eaLnBrk="1" latinLnBrk="0" hangingPunct="1">
        <a:spcBef>
          <a:spcPct val="0"/>
        </a:spcBef>
        <a:buNone/>
        <a:defRPr sz="4600" kern="1200">
          <a:solidFill>
            <a:schemeClr val="tx1"/>
          </a:solidFill>
          <a:latin typeface="+mj-lt"/>
          <a:ea typeface="+mj-ea"/>
          <a:cs typeface="+mj-cs"/>
        </a:defRPr>
      </a:lvl1pPr>
    </p:titleStyle>
    <p:bodyStyle>
      <a:lvl1pPr marL="463550" indent="-463550" algn="l" defTabSz="914400" rtl="0" eaLnBrk="1" latinLnBrk="0" hangingPunct="1">
        <a:spcBef>
          <a:spcPts val="2000"/>
        </a:spcBef>
        <a:buSzPct val="90000"/>
        <a:buFontTx/>
        <a:buBlip>
          <a:blip r:embed="rId22"/>
        </a:buBlip>
        <a:defRPr sz="2400" kern="1200">
          <a:solidFill>
            <a:schemeClr val="tx1"/>
          </a:solidFill>
          <a:latin typeface="+mn-lt"/>
          <a:ea typeface="+mn-ea"/>
          <a:cs typeface="+mn-cs"/>
        </a:defRPr>
      </a:lvl1pPr>
      <a:lvl2pPr marL="914400" indent="-457200" algn="l" defTabSz="914400" rtl="0" eaLnBrk="1" latinLnBrk="0" hangingPunct="1">
        <a:spcBef>
          <a:spcPts val="600"/>
        </a:spcBef>
        <a:buSzPct val="90000"/>
        <a:buFontTx/>
        <a:buBlip>
          <a:blip r:embed="rId23"/>
        </a:buBlip>
        <a:defRPr sz="2200" kern="1200">
          <a:solidFill>
            <a:schemeClr val="tx1"/>
          </a:solidFill>
          <a:latin typeface="+mn-lt"/>
          <a:ea typeface="+mn-ea"/>
          <a:cs typeface="+mn-cs"/>
        </a:defRPr>
      </a:lvl2pPr>
      <a:lvl3pPr marL="1255713" indent="-341313" algn="l" defTabSz="914400" rtl="0" eaLnBrk="1" latinLnBrk="0" hangingPunct="1">
        <a:spcBef>
          <a:spcPts val="600"/>
        </a:spcBef>
        <a:buSzPct val="90000"/>
        <a:buFontTx/>
        <a:buBlip>
          <a:blip r:embed="rId24"/>
        </a:buBlip>
        <a:defRPr sz="2000" kern="1200">
          <a:solidFill>
            <a:schemeClr val="tx1"/>
          </a:solidFill>
          <a:latin typeface="+mn-lt"/>
          <a:ea typeface="+mn-ea"/>
          <a:cs typeface="+mn-cs"/>
        </a:defRPr>
      </a:lvl3pPr>
      <a:lvl4pPr marL="1597025" indent="-341313" algn="l" defTabSz="914400" rtl="0" eaLnBrk="1" latinLnBrk="0" hangingPunct="1">
        <a:spcBef>
          <a:spcPts val="600"/>
        </a:spcBef>
        <a:buSzPct val="90000"/>
        <a:buFontTx/>
        <a:buBlip>
          <a:blip r:embed="rId24"/>
        </a:buBlip>
        <a:defRPr sz="1800" kern="1200">
          <a:solidFill>
            <a:schemeClr val="tx1"/>
          </a:solidFill>
          <a:latin typeface="+mn-lt"/>
          <a:ea typeface="+mn-ea"/>
          <a:cs typeface="+mn-cs"/>
        </a:defRPr>
      </a:lvl4pPr>
      <a:lvl5pPr marL="1938338" indent="-341313" algn="l" defTabSz="914400" rtl="0" eaLnBrk="1" latinLnBrk="0" hangingPunct="1">
        <a:spcBef>
          <a:spcPts val="600"/>
        </a:spcBef>
        <a:buSzPct val="90000"/>
        <a:buFontTx/>
        <a:buBlip>
          <a:blip r:embed="rId24"/>
        </a:buBlip>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03238"/>
            <a:ext cx="7694613" cy="868362"/>
          </a:xfrm>
        </p:spPr>
        <p:txBody>
          <a:bodyPr/>
          <a:lstStyle/>
          <a:p>
            <a:r>
              <a:rPr lang="en-US" b="1" dirty="0" smtClean="0"/>
              <a:t>Informal Texts vs. Formal Texts</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Informal texts are </a:t>
            </a:r>
            <a:r>
              <a:rPr lang="en-US" b="1" dirty="0" smtClean="0"/>
              <a:t>colloquial. </a:t>
            </a:r>
            <a:r>
              <a:rPr lang="en-US" dirty="0" smtClean="0"/>
              <a:t>They use everyday language so the use of </a:t>
            </a:r>
            <a:r>
              <a:rPr lang="en-US" b="1" dirty="0" smtClean="0"/>
              <a:t>short or incomplete sentences</a:t>
            </a:r>
            <a:r>
              <a:rPr lang="en-US" dirty="0" smtClean="0"/>
              <a:t>, </a:t>
            </a:r>
            <a:r>
              <a:rPr lang="en-US" b="1" dirty="0" smtClean="0"/>
              <a:t>slang, idioms </a:t>
            </a:r>
            <a:r>
              <a:rPr lang="en-US" dirty="0" smtClean="0"/>
              <a:t>(figures of speech), </a:t>
            </a:r>
            <a:r>
              <a:rPr lang="en-US" b="1" dirty="0" smtClean="0"/>
              <a:t>contractions, abbreviations </a:t>
            </a:r>
            <a:r>
              <a:rPr lang="en-US" dirty="0" smtClean="0"/>
              <a:t>and </a:t>
            </a:r>
            <a:r>
              <a:rPr lang="en-US" b="1" dirty="0" smtClean="0"/>
              <a:t>even broken sentences </a:t>
            </a:r>
            <a:r>
              <a:rPr lang="en-US" dirty="0" smtClean="0"/>
              <a:t>is very common. It takes </a:t>
            </a:r>
            <a:r>
              <a:rPr lang="en-US" b="1" dirty="0" smtClean="0"/>
              <a:t>a personal tone</a:t>
            </a:r>
            <a:r>
              <a:rPr lang="en-US" dirty="0" smtClean="0"/>
              <a:t>.  </a:t>
            </a:r>
          </a:p>
          <a:p>
            <a:r>
              <a:rPr lang="en-US" dirty="0" smtClean="0"/>
              <a:t>However, formal writing style is different from informal writing in terms of </a:t>
            </a:r>
            <a:r>
              <a:rPr lang="en-US" b="1" dirty="0" smtClean="0"/>
              <a:t>content, language, purpose and audience.</a:t>
            </a:r>
            <a:r>
              <a:rPr lang="en-US" dirty="0" smtClean="0"/>
              <a:t> Unlike informal texts, formal writing requires to be </a:t>
            </a:r>
            <a:r>
              <a:rPr lang="en-US" b="1" dirty="0" smtClean="0"/>
              <a:t>unambiguous and concise</a:t>
            </a:r>
            <a:r>
              <a:rPr lang="en-US" dirty="0" smtClean="0"/>
              <a:t>, </a:t>
            </a:r>
            <a:r>
              <a:rPr lang="en-US" b="1" dirty="0" smtClean="0"/>
              <a:t>clearly stated </a:t>
            </a:r>
            <a:r>
              <a:rPr lang="en-US" dirty="0" smtClean="0"/>
              <a:t>and </a:t>
            </a:r>
            <a:r>
              <a:rPr lang="en-US" b="1" dirty="0" smtClean="0"/>
              <a:t>well structured</a:t>
            </a:r>
            <a:r>
              <a:rPr lang="en-US" dirty="0" smtClean="0"/>
              <a:t>.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formal text has a structure!</a:t>
            </a:r>
            <a:endParaRPr lang="en-US" dirty="0"/>
          </a:p>
        </p:txBody>
      </p:sp>
      <p:sp>
        <p:nvSpPr>
          <p:cNvPr id="3" name="Content Placeholder 2"/>
          <p:cNvSpPr>
            <a:spLocks noGrp="1"/>
          </p:cNvSpPr>
          <p:nvPr>
            <p:ph idx="1"/>
          </p:nvPr>
        </p:nvSpPr>
        <p:spPr/>
        <p:txBody>
          <a:bodyPr/>
          <a:lstStyle/>
          <a:p>
            <a:r>
              <a:rPr lang="en-US" b="1" dirty="0" smtClean="0"/>
              <a:t>Essays</a:t>
            </a:r>
            <a:r>
              <a:rPr lang="en-US" dirty="0" smtClean="0"/>
              <a:t> and</a:t>
            </a:r>
            <a:r>
              <a:rPr lang="en-US" b="1" dirty="0" smtClean="0"/>
              <a:t> reports </a:t>
            </a:r>
            <a:r>
              <a:rPr lang="en-US" dirty="0" smtClean="0"/>
              <a:t>that you are required to write in your departments are examples of formal texts written with </a:t>
            </a:r>
            <a:r>
              <a:rPr lang="en-US" b="1" dirty="0" smtClean="0"/>
              <a:t>an introduction, body and conclusion paragraphs</a:t>
            </a:r>
            <a:r>
              <a:rPr lang="en-US" dirty="0" smtClean="0"/>
              <a:t>. Each topic is introduced, elaborated on and concluded and the main arguments are supported clearly.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Formal Texts</a:t>
            </a:r>
            <a:endParaRPr lang="en-US" dirty="0"/>
          </a:p>
        </p:txBody>
      </p:sp>
      <p:sp>
        <p:nvSpPr>
          <p:cNvPr id="3" name="Content Placeholder 2"/>
          <p:cNvSpPr>
            <a:spLocks noGrp="1"/>
          </p:cNvSpPr>
          <p:nvPr>
            <p:ph idx="1"/>
          </p:nvPr>
        </p:nvSpPr>
        <p:spPr/>
        <p:txBody>
          <a:bodyPr/>
          <a:lstStyle/>
          <a:p>
            <a:r>
              <a:rPr lang="en-US" dirty="0" smtClean="0"/>
              <a:t>A formal text has </a:t>
            </a:r>
            <a:r>
              <a:rPr lang="en-US" b="1" dirty="0" smtClean="0"/>
              <a:t>complex grammar </a:t>
            </a:r>
            <a:r>
              <a:rPr lang="en-US" dirty="0" smtClean="0"/>
              <a:t>with longer sentences and transition signals. </a:t>
            </a:r>
          </a:p>
          <a:p>
            <a:r>
              <a:rPr lang="en-US" dirty="0" smtClean="0"/>
              <a:t>And it requires </a:t>
            </a:r>
            <a:r>
              <a:rPr lang="en-US" b="1" dirty="0" smtClean="0"/>
              <a:t>proper punctuation </a:t>
            </a:r>
            <a:r>
              <a:rPr lang="en-US" dirty="0" smtClean="0"/>
              <a:t>and</a:t>
            </a:r>
            <a:r>
              <a:rPr lang="en-US" b="1" dirty="0" smtClean="0"/>
              <a:t> capitalization</a:t>
            </a:r>
            <a:r>
              <a:rPr lang="en-US" dirty="0" smtClean="0"/>
              <a:t>.</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Formal Texts</a:t>
            </a:r>
            <a:endParaRPr lang="en-US" dirty="0"/>
          </a:p>
        </p:txBody>
      </p:sp>
      <p:sp>
        <p:nvSpPr>
          <p:cNvPr id="3" name="Content Placeholder 2"/>
          <p:cNvSpPr>
            <a:spLocks noGrp="1"/>
          </p:cNvSpPr>
          <p:nvPr>
            <p:ph idx="1"/>
          </p:nvPr>
        </p:nvSpPr>
        <p:spPr/>
        <p:txBody>
          <a:bodyPr/>
          <a:lstStyle/>
          <a:p>
            <a:r>
              <a:rPr lang="en-US" dirty="0" smtClean="0"/>
              <a:t>The language in formal texts is</a:t>
            </a:r>
            <a:r>
              <a:rPr lang="en-US" b="1" dirty="0" smtClean="0"/>
              <a:t> objective </a:t>
            </a:r>
            <a:r>
              <a:rPr lang="en-US" dirty="0" smtClean="0"/>
              <a:t>rather than personal. That is to say, the main emphasis is on the </a:t>
            </a:r>
            <a:r>
              <a:rPr lang="en-US" b="1" dirty="0" smtClean="0"/>
              <a:t>information </a:t>
            </a:r>
            <a:r>
              <a:rPr lang="en-US" dirty="0" smtClean="0"/>
              <a:t>or </a:t>
            </a:r>
            <a:r>
              <a:rPr lang="en-US" b="1" dirty="0" smtClean="0"/>
              <a:t>the arguments</a:t>
            </a:r>
            <a:r>
              <a:rPr lang="en-US" dirty="0" smtClean="0"/>
              <a:t>.</a:t>
            </a:r>
          </a:p>
          <a:p>
            <a:r>
              <a:rPr lang="en-US" b="1" dirty="0" smtClean="0"/>
              <a:t> Scientific or technical terms </a:t>
            </a:r>
            <a:r>
              <a:rPr lang="en-US" dirty="0" smtClean="0"/>
              <a:t>are frequently used. </a:t>
            </a:r>
          </a:p>
          <a:p>
            <a:r>
              <a:rPr lang="en-US" dirty="0" smtClean="0"/>
              <a:t>The use of </a:t>
            </a:r>
            <a:r>
              <a:rPr lang="en-US" b="1" dirty="0" smtClean="0"/>
              <a:t>non-discriminatory language </a:t>
            </a:r>
            <a:r>
              <a:rPr lang="en-US" dirty="0" smtClean="0"/>
              <a:t>that avoids any value judgments based on ethnic or racial background of a person or group of people is recommended. </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Formal Texts</a:t>
            </a:r>
            <a:endParaRPr lang="en-US" dirty="0"/>
          </a:p>
        </p:txBody>
      </p:sp>
      <p:sp>
        <p:nvSpPr>
          <p:cNvPr id="3" name="Content Placeholder 2"/>
          <p:cNvSpPr>
            <a:spLocks noGrp="1"/>
          </p:cNvSpPr>
          <p:nvPr>
            <p:ph idx="1"/>
          </p:nvPr>
        </p:nvSpPr>
        <p:spPr/>
        <p:txBody>
          <a:bodyPr/>
          <a:lstStyle/>
          <a:p>
            <a:r>
              <a:rPr lang="en-US" dirty="0" smtClean="0"/>
              <a:t>The formal texts are  based on </a:t>
            </a:r>
            <a:r>
              <a:rPr lang="en-US" b="1" dirty="0" smtClean="0"/>
              <a:t>facts and figures</a:t>
            </a:r>
            <a:r>
              <a:rPr lang="en-US" dirty="0" smtClean="0"/>
              <a:t>. Therefore, the evidence you provide should be </a:t>
            </a:r>
            <a:r>
              <a:rPr lang="en-US" b="1" dirty="0" smtClean="0"/>
              <a:t>provable and justifiable</a:t>
            </a:r>
            <a:r>
              <a:rPr lang="en-US" dirty="0" smtClean="0"/>
              <a:t>.  To be able to do that, you need to refer to outside sources. </a:t>
            </a:r>
            <a:r>
              <a:rPr lang="en-US" b="1" dirty="0" smtClean="0"/>
              <a:t>Citing outside sources </a:t>
            </a:r>
            <a:r>
              <a:rPr lang="en-US" dirty="0" smtClean="0"/>
              <a:t>and adding </a:t>
            </a:r>
            <a:r>
              <a:rPr lang="en-US" b="1" dirty="0" smtClean="0"/>
              <a:t>reference lists </a:t>
            </a:r>
            <a:r>
              <a:rPr lang="en-US" dirty="0" smtClean="0"/>
              <a:t>are necessary. </a:t>
            </a:r>
          </a:p>
          <a:p>
            <a:pPr marL="0" indent="0">
              <a:buNone/>
            </a:pP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Formal Texts</a:t>
            </a:r>
            <a:endParaRPr lang="en-US" dirty="0"/>
          </a:p>
        </p:txBody>
      </p:sp>
      <p:sp>
        <p:nvSpPr>
          <p:cNvPr id="3" name="Content Placeholder 2"/>
          <p:cNvSpPr>
            <a:spLocks noGrp="1"/>
          </p:cNvSpPr>
          <p:nvPr>
            <p:ph idx="1"/>
          </p:nvPr>
        </p:nvSpPr>
        <p:spPr/>
        <p:txBody>
          <a:bodyPr/>
          <a:lstStyle/>
          <a:p>
            <a:r>
              <a:rPr lang="en-US" dirty="0" smtClean="0"/>
              <a:t>Formal texts can be found especially in </a:t>
            </a:r>
            <a:r>
              <a:rPr lang="en-US" b="1" dirty="0" smtClean="0"/>
              <a:t>scholarly books</a:t>
            </a:r>
            <a:r>
              <a:rPr lang="en-US" dirty="0" smtClean="0"/>
              <a:t>, </a:t>
            </a:r>
            <a:r>
              <a:rPr lang="en-US" b="1" dirty="0" smtClean="0"/>
              <a:t>articles</a:t>
            </a:r>
            <a:r>
              <a:rPr lang="en-US" dirty="0" smtClean="0"/>
              <a:t>, </a:t>
            </a:r>
            <a:r>
              <a:rPr lang="en-US" b="1" dirty="0" smtClean="0"/>
              <a:t>technical reports</a:t>
            </a:r>
            <a:r>
              <a:rPr lang="en-US" dirty="0" smtClean="0"/>
              <a:t>, </a:t>
            </a:r>
            <a:r>
              <a:rPr lang="en-US" b="1" dirty="0" smtClean="0"/>
              <a:t>research papers </a:t>
            </a:r>
            <a:r>
              <a:rPr lang="en-US" dirty="0" smtClean="0"/>
              <a:t>whereas informal language usually appears in </a:t>
            </a:r>
            <a:r>
              <a:rPr lang="en-US" b="1" dirty="0" smtClean="0"/>
              <a:t>e-mails</a:t>
            </a:r>
            <a:r>
              <a:rPr lang="en-US" dirty="0" smtClean="0"/>
              <a:t>, </a:t>
            </a:r>
            <a:r>
              <a:rPr lang="en-US" b="1" dirty="0" smtClean="0"/>
              <a:t>nonfiction books</a:t>
            </a:r>
            <a:r>
              <a:rPr lang="en-US" dirty="0" smtClean="0"/>
              <a:t>, </a:t>
            </a:r>
            <a:r>
              <a:rPr lang="en-US" b="1" dirty="0" smtClean="0"/>
              <a:t>magazines</a:t>
            </a:r>
            <a:r>
              <a:rPr lang="en-US" dirty="0" smtClean="0"/>
              <a:t>. </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smtClean="0"/>
              <a:t>FORMAL vs. INFORMAL</a:t>
            </a:r>
            <a:endParaRPr lang="en-US" dirty="0"/>
          </a:p>
        </p:txBody>
      </p:sp>
      <p:sp>
        <p:nvSpPr>
          <p:cNvPr id="15" name="Text Placeholder 14"/>
          <p:cNvSpPr>
            <a:spLocks noGrp="1"/>
          </p:cNvSpPr>
          <p:nvPr>
            <p:ph type="body" idx="1"/>
          </p:nvPr>
        </p:nvSpPr>
        <p:spPr/>
        <p:txBody>
          <a:bodyPr/>
          <a:lstStyle/>
          <a:p>
            <a:r>
              <a:rPr lang="en-US" dirty="0" smtClean="0"/>
              <a:t>FORMAL WRITING</a:t>
            </a:r>
          </a:p>
          <a:p>
            <a:endParaRPr lang="en-US" dirty="0"/>
          </a:p>
        </p:txBody>
      </p:sp>
      <p:sp>
        <p:nvSpPr>
          <p:cNvPr id="13" name="Content Placeholder 12"/>
          <p:cNvSpPr>
            <a:spLocks noGrp="1"/>
          </p:cNvSpPr>
          <p:nvPr>
            <p:ph sz="half" idx="2"/>
          </p:nvPr>
        </p:nvSpPr>
        <p:spPr/>
        <p:txBody>
          <a:bodyPr/>
          <a:lstStyle/>
          <a:p>
            <a:pPr>
              <a:spcBef>
                <a:spcPts val="0"/>
              </a:spcBef>
            </a:pPr>
            <a:r>
              <a:rPr lang="en-US" dirty="0" smtClean="0"/>
              <a:t>Complex grammar</a:t>
            </a:r>
          </a:p>
          <a:p>
            <a:pPr>
              <a:spcBef>
                <a:spcPts val="0"/>
              </a:spcBef>
            </a:pPr>
            <a:r>
              <a:rPr lang="en-US" dirty="0" smtClean="0"/>
              <a:t>Longer sentences</a:t>
            </a:r>
          </a:p>
          <a:p>
            <a:pPr>
              <a:spcBef>
                <a:spcPts val="0"/>
              </a:spcBef>
            </a:pPr>
            <a:r>
              <a:rPr lang="en-US" dirty="0" smtClean="0"/>
              <a:t>No contractions</a:t>
            </a:r>
            <a:r>
              <a:rPr lang="tr-TR" dirty="0" smtClean="0"/>
              <a:t> </a:t>
            </a:r>
            <a:r>
              <a:rPr lang="en-US" dirty="0" smtClean="0"/>
              <a:t>/no abbreviations</a:t>
            </a:r>
          </a:p>
          <a:p>
            <a:pPr>
              <a:spcBef>
                <a:spcPts val="0"/>
              </a:spcBef>
            </a:pPr>
            <a:r>
              <a:rPr lang="en-US" dirty="0" smtClean="0"/>
              <a:t>Objective</a:t>
            </a:r>
            <a:r>
              <a:rPr lang="tr-TR" dirty="0" smtClean="0"/>
              <a:t> tone</a:t>
            </a:r>
            <a:endParaRPr lang="en-US" dirty="0" smtClean="0"/>
          </a:p>
          <a:p>
            <a:pPr>
              <a:spcBef>
                <a:spcPts val="0"/>
              </a:spcBef>
            </a:pPr>
            <a:r>
              <a:rPr lang="en-US" dirty="0" smtClean="0"/>
              <a:t>Not personal</a:t>
            </a:r>
          </a:p>
          <a:p>
            <a:r>
              <a:rPr lang="tr-TR" dirty="0" smtClean="0"/>
              <a:t>Uses formal/technical vocabulary</a:t>
            </a:r>
            <a:endParaRPr lang="en-US" dirty="0"/>
          </a:p>
        </p:txBody>
      </p:sp>
      <p:sp>
        <p:nvSpPr>
          <p:cNvPr id="16" name="Text Placeholder 15"/>
          <p:cNvSpPr>
            <a:spLocks noGrp="1"/>
          </p:cNvSpPr>
          <p:nvPr>
            <p:ph type="body" sz="quarter" idx="3"/>
          </p:nvPr>
        </p:nvSpPr>
        <p:spPr/>
        <p:txBody>
          <a:bodyPr/>
          <a:lstStyle/>
          <a:p>
            <a:r>
              <a:rPr lang="en-US" dirty="0" smtClean="0"/>
              <a:t>INFORMAL WRITING</a:t>
            </a:r>
          </a:p>
          <a:p>
            <a:endParaRPr lang="en-US" dirty="0"/>
          </a:p>
        </p:txBody>
      </p:sp>
      <p:sp>
        <p:nvSpPr>
          <p:cNvPr id="14" name="Content Placeholder 13"/>
          <p:cNvSpPr>
            <a:spLocks noGrp="1"/>
          </p:cNvSpPr>
          <p:nvPr>
            <p:ph sz="quarter" idx="4"/>
          </p:nvPr>
        </p:nvSpPr>
        <p:spPr>
          <a:xfrm>
            <a:off x="4646514" y="2174875"/>
            <a:ext cx="3735486" cy="3616325"/>
          </a:xfrm>
        </p:spPr>
        <p:txBody>
          <a:bodyPr>
            <a:normAutofit/>
          </a:bodyPr>
          <a:lstStyle/>
          <a:p>
            <a:pPr>
              <a:spcBef>
                <a:spcPts val="0"/>
              </a:spcBef>
            </a:pPr>
            <a:r>
              <a:rPr lang="en-US" dirty="0"/>
              <a:t>Conversational</a:t>
            </a:r>
          </a:p>
          <a:p>
            <a:pPr>
              <a:spcBef>
                <a:spcPts val="0"/>
              </a:spcBef>
            </a:pPr>
            <a:r>
              <a:rPr lang="tr-TR" dirty="0"/>
              <a:t>S</a:t>
            </a:r>
            <a:r>
              <a:rPr lang="en-US" dirty="0" err="1" smtClean="0"/>
              <a:t>hort</a:t>
            </a:r>
            <a:r>
              <a:rPr lang="en-US" dirty="0" smtClean="0"/>
              <a:t> /incomplete sentences</a:t>
            </a:r>
          </a:p>
          <a:p>
            <a:pPr marL="0" indent="0">
              <a:spcBef>
                <a:spcPts val="0"/>
              </a:spcBef>
              <a:buNone/>
            </a:pPr>
            <a:r>
              <a:rPr lang="en-US" dirty="0" smtClean="0"/>
              <a:t>-Contractions/abbreviations</a:t>
            </a:r>
          </a:p>
          <a:p>
            <a:pPr>
              <a:spcBef>
                <a:spcPts val="0"/>
              </a:spcBef>
            </a:pPr>
            <a:endParaRPr lang="tr-TR" dirty="0" smtClean="0"/>
          </a:p>
          <a:p>
            <a:pPr>
              <a:spcBef>
                <a:spcPts val="0"/>
              </a:spcBef>
            </a:pPr>
            <a:r>
              <a:rPr lang="en-US" dirty="0" smtClean="0"/>
              <a:t>Personal/emotional tone</a:t>
            </a:r>
          </a:p>
          <a:p>
            <a:pPr>
              <a:spcBef>
                <a:spcPts val="0"/>
              </a:spcBef>
            </a:pPr>
            <a:r>
              <a:rPr lang="en-US" dirty="0" smtClean="0"/>
              <a:t>Use</a:t>
            </a:r>
            <a:r>
              <a:rPr lang="tr-TR" dirty="0" smtClean="0"/>
              <a:t>s</a:t>
            </a:r>
            <a:r>
              <a:rPr lang="en-US" dirty="0" smtClean="0"/>
              <a:t> words like “you” and “your”</a:t>
            </a:r>
          </a:p>
          <a:p>
            <a:pPr>
              <a:spcBef>
                <a:spcPts val="0"/>
              </a:spcBef>
            </a:pPr>
            <a:r>
              <a:rPr lang="en-US" dirty="0"/>
              <a:t>Uses slang</a:t>
            </a:r>
          </a:p>
          <a:p>
            <a:pPr>
              <a:spcBef>
                <a:spcPts val="0"/>
              </a:spcBef>
            </a:pPr>
            <a:endParaRPr lang="en-US" dirty="0" smtClean="0"/>
          </a:p>
          <a:p>
            <a:pPr marL="0" indent="0">
              <a:buNone/>
            </a:pP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03238"/>
            <a:ext cx="7313613" cy="868362"/>
          </a:xfrm>
        </p:spPr>
        <p:txBody>
          <a:bodyPr wrap="square">
            <a:noAutofit/>
          </a:bodyPr>
          <a:lstStyle/>
          <a:p>
            <a:pPr>
              <a:spcBef>
                <a:spcPts val="0"/>
              </a:spcBef>
            </a:pPr>
            <a:r>
              <a:rPr lang="en-US" sz="2000" b="1" kern="100" dirty="0" smtClean="0"/>
              <a:t>Two texts are written on the same topic. </a:t>
            </a:r>
            <a:br>
              <a:rPr lang="en-US" sz="2000" b="1" kern="100" dirty="0" smtClean="0"/>
            </a:br>
            <a:r>
              <a:rPr lang="en-US" sz="2000" b="1" kern="100" dirty="0" smtClean="0"/>
              <a:t>What is the difference between the two? </a:t>
            </a:r>
            <a:r>
              <a:rPr lang="en-US" dirty="0" smtClean="0"/>
              <a:t/>
            </a:r>
            <a:br>
              <a:rPr lang="en-US" dirty="0" smtClean="0"/>
            </a:br>
            <a:endParaRPr lang="en-US" dirty="0"/>
          </a:p>
        </p:txBody>
      </p:sp>
      <p:sp>
        <p:nvSpPr>
          <p:cNvPr id="3" name="Content Placeholder 2"/>
          <p:cNvSpPr>
            <a:spLocks noGrp="1"/>
          </p:cNvSpPr>
          <p:nvPr>
            <p:ph idx="1"/>
          </p:nvPr>
        </p:nvSpPr>
        <p:spPr>
          <a:xfrm>
            <a:off x="914400" y="1371600"/>
            <a:ext cx="7313613" cy="6073458"/>
          </a:xfrm>
        </p:spPr>
        <p:txBody>
          <a:bodyPr wrap="square">
            <a:spAutoFit/>
          </a:bodyPr>
          <a:lstStyle/>
          <a:p>
            <a:pPr marL="0" indent="0">
              <a:spcBef>
                <a:spcPts val="0"/>
              </a:spcBef>
              <a:buNone/>
            </a:pPr>
            <a:r>
              <a:rPr lang="en-US" sz="1800" dirty="0" smtClean="0"/>
              <a:t>Hi Anne, </a:t>
            </a:r>
          </a:p>
          <a:p>
            <a:pPr marL="0" indent="0">
              <a:spcBef>
                <a:spcPts val="0"/>
              </a:spcBef>
              <a:buNone/>
            </a:pPr>
            <a:r>
              <a:rPr lang="tr-TR" sz="1800" dirty="0" smtClean="0"/>
              <a:t>Drexel has </a:t>
            </a:r>
            <a:r>
              <a:rPr lang="en-US" sz="1800" dirty="0" smtClean="0"/>
              <a:t>turned down my application. My GPA was low so they thought I was a lazybones. But hey, I think it’s nonsense! GPA isn’t everything. I’m not </a:t>
            </a:r>
            <a:r>
              <a:rPr lang="en-US" sz="1800" dirty="0" err="1" smtClean="0"/>
              <a:t>gonna</a:t>
            </a:r>
            <a:r>
              <a:rPr lang="en-US" sz="1800" dirty="0" smtClean="0"/>
              <a:t> apply any program they have again. It’s their loss not mine!</a:t>
            </a:r>
          </a:p>
          <a:p>
            <a:pPr marL="0" indent="0">
              <a:spcBef>
                <a:spcPts val="0"/>
              </a:spcBef>
              <a:buNone/>
            </a:pPr>
            <a:r>
              <a:rPr lang="en-US" sz="1800" dirty="0" smtClean="0"/>
              <a:t>Kisses,</a:t>
            </a:r>
          </a:p>
          <a:p>
            <a:pPr marL="0" indent="0">
              <a:spcBef>
                <a:spcPts val="0"/>
              </a:spcBef>
              <a:buNone/>
            </a:pPr>
            <a:r>
              <a:rPr lang="en-US" sz="1800" dirty="0" smtClean="0"/>
              <a:t>J.</a:t>
            </a:r>
          </a:p>
          <a:p>
            <a:pPr marL="0" indent="0">
              <a:spcBef>
                <a:spcPts val="0"/>
              </a:spcBef>
              <a:buNone/>
            </a:pPr>
            <a:endParaRPr lang="en-US" sz="1800" dirty="0" smtClean="0"/>
          </a:p>
          <a:p>
            <a:pPr marL="0" indent="0">
              <a:spcBef>
                <a:spcPts val="0"/>
              </a:spcBef>
              <a:buNone/>
            </a:pPr>
            <a:r>
              <a:rPr lang="en-US" sz="1800" dirty="0" smtClean="0"/>
              <a:t>Dear Professor, </a:t>
            </a:r>
          </a:p>
          <a:p>
            <a:pPr marL="0" indent="0">
              <a:spcBef>
                <a:spcPts val="0"/>
              </a:spcBef>
              <a:buNone/>
            </a:pPr>
            <a:r>
              <a:rPr lang="en-US" sz="1800" dirty="0" smtClean="0"/>
              <a:t>I am writing to inform you that the admissions committee of Drexel University has reviewed my application for </a:t>
            </a:r>
            <a:r>
              <a:rPr lang="tr-TR" sz="1800" dirty="0" smtClean="0"/>
              <a:t>the </a:t>
            </a:r>
            <a:r>
              <a:rPr lang="en-US" sz="1800" dirty="0" smtClean="0"/>
              <a:t>coming academic year. Unfortunately, they informed that my application for the graduate program in Physics has been rejected. This year’s applications have far exceeded the number of students the program accepts and unfortunately my application was not among the strongest candidates. Thank you for your support in this process.</a:t>
            </a:r>
          </a:p>
          <a:p>
            <a:pPr marL="0" indent="0">
              <a:spcBef>
                <a:spcPts val="0"/>
              </a:spcBef>
              <a:buNone/>
            </a:pPr>
            <a:r>
              <a:rPr lang="en-US" sz="1800" dirty="0" smtClean="0"/>
              <a:t>Sincerely, </a:t>
            </a:r>
          </a:p>
          <a:p>
            <a:pPr marL="0" indent="0">
              <a:spcBef>
                <a:spcPts val="0"/>
              </a:spcBef>
              <a:buNone/>
            </a:pPr>
            <a:r>
              <a:rPr lang="en-US" sz="1800" dirty="0" smtClean="0"/>
              <a:t>Jason Smith</a:t>
            </a:r>
          </a:p>
          <a:p>
            <a:pPr marL="0" indent="0">
              <a:spcBef>
                <a:spcPts val="0"/>
              </a:spcBef>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Academic Writing? </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Writing in formal style can be used in a variety of fields such as professional purposes in business, formal letters or academic writing. This course will mainly deal with </a:t>
            </a:r>
            <a:r>
              <a:rPr lang="en-US" sz="3600" b="1" dirty="0" smtClean="0"/>
              <a:t>academic writing style. </a:t>
            </a:r>
          </a:p>
          <a:p>
            <a:r>
              <a:rPr lang="en-US" dirty="0" smtClean="0"/>
              <a:t>Academic writing style is the kind of writing that is required to be used in universities. It differs from other formal writing styles in several ways in terms of </a:t>
            </a:r>
            <a:r>
              <a:rPr lang="en-US" b="1" dirty="0" smtClean="0"/>
              <a:t>audience, tone and purpose </a:t>
            </a:r>
            <a:r>
              <a:rPr lang="en-US" dirty="0" smtClean="0"/>
              <a:t>and has </a:t>
            </a:r>
            <a:r>
              <a:rPr lang="en-US" b="1" dirty="0" smtClean="0"/>
              <a:t>certain rules</a:t>
            </a:r>
            <a:r>
              <a:rPr lang="en-US" dirty="0" smtClean="0"/>
              <a:t>.  </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smtClean="0"/>
              <a:t>What is Tone?  What is Audience? What is Purpose?</a:t>
            </a:r>
            <a:r>
              <a:rPr lang="en-US" sz="2400" dirty="0" smtClean="0"/>
              <a:t/>
            </a:r>
            <a:br>
              <a:rPr lang="en-US" sz="2400" dirty="0" smtClean="0"/>
            </a:br>
            <a:endParaRPr lang="en-US" sz="2400" dirty="0"/>
          </a:p>
        </p:txBody>
      </p:sp>
      <p:sp>
        <p:nvSpPr>
          <p:cNvPr id="3" name="Content Placeholder 2"/>
          <p:cNvSpPr>
            <a:spLocks noGrp="1"/>
          </p:cNvSpPr>
          <p:nvPr>
            <p:ph idx="1"/>
          </p:nvPr>
        </p:nvSpPr>
        <p:spPr/>
        <p:txBody>
          <a:bodyPr>
            <a:normAutofit fontScale="85000" lnSpcReduction="20000"/>
          </a:bodyPr>
          <a:lstStyle/>
          <a:p>
            <a:r>
              <a:rPr lang="en-US" b="1" dirty="0" smtClean="0"/>
              <a:t>Audience</a:t>
            </a:r>
            <a:r>
              <a:rPr lang="en-US" dirty="0" smtClean="0"/>
              <a:t> is your reader. It is important to determine the audience in advance because it will shape the content and level of your writing. In academic writing, the audience is </a:t>
            </a:r>
            <a:r>
              <a:rPr lang="en-US" b="1" dirty="0" smtClean="0"/>
              <a:t>usually </a:t>
            </a:r>
            <a:r>
              <a:rPr lang="en-US" b="1" dirty="0" smtClean="0">
                <a:solidFill>
                  <a:srgbClr val="FF0000"/>
                </a:solidFill>
              </a:rPr>
              <a:t>scholars, researchers and students</a:t>
            </a:r>
            <a:r>
              <a:rPr lang="en-US" b="1" dirty="0" smtClean="0"/>
              <a:t>.</a:t>
            </a:r>
          </a:p>
          <a:p>
            <a:r>
              <a:rPr lang="en-US" b="1" dirty="0" smtClean="0"/>
              <a:t>Purpose</a:t>
            </a:r>
            <a:r>
              <a:rPr lang="en-US" dirty="0" smtClean="0"/>
              <a:t> puts forward your reason to write. You can describe, persuade or analyze through your writing. Academic texts are written for </a:t>
            </a:r>
            <a:r>
              <a:rPr lang="en-US" b="1" dirty="0" smtClean="0"/>
              <a:t>academic purposes</a:t>
            </a:r>
            <a:r>
              <a:rPr lang="en-US" dirty="0" smtClean="0"/>
              <a:t>; that is to present information with a clear understanding of the subject.</a:t>
            </a:r>
          </a:p>
          <a:p>
            <a:r>
              <a:rPr lang="en-US" b="1" dirty="0" smtClean="0"/>
              <a:t>Tone</a:t>
            </a:r>
            <a:r>
              <a:rPr lang="en-US" dirty="0" smtClean="0"/>
              <a:t> shows </a:t>
            </a:r>
            <a:r>
              <a:rPr lang="en-US" dirty="0" smtClean="0">
                <a:solidFill>
                  <a:srgbClr val="FF0000"/>
                </a:solidFill>
              </a:rPr>
              <a:t>how</a:t>
            </a:r>
            <a:r>
              <a:rPr lang="en-US" dirty="0" smtClean="0"/>
              <a:t> the writing is conveyed. In academic writing, </a:t>
            </a:r>
            <a:r>
              <a:rPr lang="en-US" b="1" dirty="0" smtClean="0">
                <a:solidFill>
                  <a:srgbClr val="FF0000"/>
                </a:solidFill>
              </a:rPr>
              <a:t>formal tone </a:t>
            </a:r>
            <a:r>
              <a:rPr lang="en-US" dirty="0" smtClean="0"/>
              <a:t>is used since the audience of academic writing is mostly scholars. Academic texts require </a:t>
            </a:r>
            <a:r>
              <a:rPr lang="en-US" b="1" dirty="0" smtClean="0"/>
              <a:t>a formal tone with formal use of language</a:t>
            </a:r>
            <a:r>
              <a:rPr lang="en-US" dirty="0" smtClean="0"/>
              <a:t> and </a:t>
            </a:r>
            <a:r>
              <a:rPr lang="en-US" b="1" dirty="0" smtClean="0"/>
              <a:t>scientific vocabulary.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Identify the tone and audience of the text below.</a:t>
            </a:r>
            <a:endParaRPr lang="en-US" sz="2000" b="1" dirty="0"/>
          </a:p>
        </p:txBody>
      </p:sp>
      <p:sp>
        <p:nvSpPr>
          <p:cNvPr id="3" name="Content Placeholder 2"/>
          <p:cNvSpPr>
            <a:spLocks noGrp="1"/>
          </p:cNvSpPr>
          <p:nvPr>
            <p:ph idx="1"/>
          </p:nvPr>
        </p:nvSpPr>
        <p:spPr/>
        <p:txBody>
          <a:bodyPr/>
          <a:lstStyle/>
          <a:p>
            <a:pPr lvl="0"/>
            <a:r>
              <a:rPr lang="en-US" dirty="0" smtClean="0"/>
              <a:t>Animation movies are absolutely fun to watch. They’re a bit like the reflection of reality. And when the characters, especially, animals do absurd stuff like dancing and singing, I laugh out so loud that people around me at theatre stare at me annoyingly. </a:t>
            </a:r>
          </a:p>
          <a:p>
            <a:r>
              <a:rPr lang="en-US" dirty="0" smtClean="0"/>
              <a:t>Tone:</a:t>
            </a:r>
          </a:p>
          <a:p>
            <a:r>
              <a:rPr lang="en-US" dirty="0" smtClean="0"/>
              <a:t>Audience:</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Identify the tone and audience of the text below.</a:t>
            </a:r>
            <a:endParaRPr lang="en-US" sz="2000" b="1" dirty="0"/>
          </a:p>
        </p:txBody>
      </p:sp>
      <p:sp>
        <p:nvSpPr>
          <p:cNvPr id="3" name="Content Placeholder 2"/>
          <p:cNvSpPr>
            <a:spLocks noGrp="1"/>
          </p:cNvSpPr>
          <p:nvPr>
            <p:ph idx="1"/>
          </p:nvPr>
        </p:nvSpPr>
        <p:spPr/>
        <p:txBody>
          <a:bodyPr/>
          <a:lstStyle/>
          <a:p>
            <a:pPr lvl="0"/>
            <a:r>
              <a:rPr lang="en-US" dirty="0" smtClean="0"/>
              <a:t>Animation movies are absolutely fun to watch. They’re a bit like the reflection of reality. And when the characters, especially, animals do absurd stuff like dancing and singing, I laugh out so loud that people around me at theatre stare at me annoyingly. </a:t>
            </a:r>
          </a:p>
          <a:p>
            <a:r>
              <a:rPr lang="en-US" dirty="0" smtClean="0"/>
              <a:t>Tone:</a:t>
            </a:r>
            <a:r>
              <a:rPr lang="en-US" b="1" dirty="0" smtClean="0"/>
              <a:t> Informal (personal/colloquial)</a:t>
            </a:r>
          </a:p>
          <a:p>
            <a:r>
              <a:rPr lang="en-US" dirty="0" smtClean="0"/>
              <a:t>Audience: </a:t>
            </a:r>
            <a:r>
              <a:rPr lang="en-US" b="1" dirty="0" smtClean="0"/>
              <a:t>General Public</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Identify the tone and audience of the text below.</a:t>
            </a:r>
            <a:r>
              <a:rPr lang="en-US" sz="2000" dirty="0" smtClean="0"/>
              <a:t/>
            </a:r>
            <a:br>
              <a:rPr lang="en-US" sz="2000" dirty="0" smtClean="0"/>
            </a:br>
            <a:endParaRPr lang="en-US" sz="2000" dirty="0"/>
          </a:p>
        </p:txBody>
      </p:sp>
      <p:sp>
        <p:nvSpPr>
          <p:cNvPr id="3" name="Content Placeholder 2"/>
          <p:cNvSpPr>
            <a:spLocks noGrp="1"/>
          </p:cNvSpPr>
          <p:nvPr>
            <p:ph idx="1"/>
          </p:nvPr>
        </p:nvSpPr>
        <p:spPr/>
        <p:txBody>
          <a:bodyPr>
            <a:normAutofit/>
          </a:bodyPr>
          <a:lstStyle/>
          <a:p>
            <a:r>
              <a:rPr lang="en-US" dirty="0"/>
              <a:t>Chen and </a:t>
            </a:r>
            <a:r>
              <a:rPr lang="en-US" dirty="0" err="1"/>
              <a:t>Rascaroli</a:t>
            </a:r>
            <a:r>
              <a:rPr lang="en-US" dirty="0"/>
              <a:t> </a:t>
            </a:r>
            <a:r>
              <a:rPr lang="en-US" dirty="0" smtClean="0"/>
              <a:t>state, </a:t>
            </a:r>
            <a:r>
              <a:rPr lang="en-US" dirty="0"/>
              <a:t>“On account of its relationship to technique, technology and form, animation can thus be said to be constitutively experimental” (2014).</a:t>
            </a:r>
          </a:p>
          <a:p>
            <a:pPr marL="0" lvl="0" indent="0">
              <a:buNone/>
            </a:pPr>
            <a:endParaRPr lang="en-US" dirty="0" smtClean="0"/>
          </a:p>
          <a:p>
            <a:r>
              <a:rPr lang="en-US" dirty="0" smtClean="0"/>
              <a:t>Tone: </a:t>
            </a:r>
          </a:p>
          <a:p>
            <a:r>
              <a:rPr lang="en-US" dirty="0" smtClean="0"/>
              <a:t>Audience: </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t>Identify the tone and audience of the text below.</a:t>
            </a:r>
            <a:r>
              <a:rPr lang="en-US" sz="2000" dirty="0" smtClean="0"/>
              <a:t/>
            </a:r>
            <a:br>
              <a:rPr lang="en-US" sz="2000" dirty="0" smtClean="0"/>
            </a:br>
            <a:endParaRPr lang="en-US" sz="2000" dirty="0"/>
          </a:p>
        </p:txBody>
      </p:sp>
      <p:sp>
        <p:nvSpPr>
          <p:cNvPr id="3" name="Content Placeholder 2"/>
          <p:cNvSpPr>
            <a:spLocks noGrp="1"/>
          </p:cNvSpPr>
          <p:nvPr>
            <p:ph idx="1"/>
          </p:nvPr>
        </p:nvSpPr>
        <p:spPr/>
        <p:txBody>
          <a:bodyPr>
            <a:normAutofit/>
          </a:bodyPr>
          <a:lstStyle/>
          <a:p>
            <a:r>
              <a:rPr lang="en-US" dirty="0"/>
              <a:t>Chen and </a:t>
            </a:r>
            <a:r>
              <a:rPr lang="en-US" dirty="0" err="1"/>
              <a:t>Rascaroli</a:t>
            </a:r>
            <a:r>
              <a:rPr lang="en-US" dirty="0"/>
              <a:t> state that “On account of its relationship to technique, technology and form, animation can thus be said to be constitutively experimental” (2014).</a:t>
            </a:r>
          </a:p>
          <a:p>
            <a:r>
              <a:rPr lang="en-US" dirty="0" smtClean="0"/>
              <a:t>Tone: </a:t>
            </a:r>
            <a:r>
              <a:rPr lang="en-US" b="1" dirty="0" smtClean="0"/>
              <a:t>Formal</a:t>
            </a:r>
            <a:r>
              <a:rPr lang="en-US" dirty="0" smtClean="0"/>
              <a:t> </a:t>
            </a:r>
          </a:p>
          <a:p>
            <a:r>
              <a:rPr lang="en-US" dirty="0" smtClean="0"/>
              <a:t>Audience: </a:t>
            </a:r>
            <a:r>
              <a:rPr lang="en-US" b="1" dirty="0" smtClean="0"/>
              <a:t>Academicians/Researchers </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pPr marL="36000" lvl="0" indent="-463550">
              <a:lnSpc>
                <a:spcPct val="120000"/>
              </a:lnSpc>
              <a:spcBef>
                <a:spcPts val="0"/>
              </a:spcBef>
            </a:pPr>
            <a:r>
              <a:rPr lang="en-US" sz="800" dirty="0" smtClean="0">
                <a:solidFill>
                  <a:prstClr val="black"/>
                </a:solidFill>
                <a:ea typeface="+mn-ea"/>
                <a:cs typeface="+mn-cs"/>
              </a:rPr>
              <a:t/>
            </a:r>
            <a:br>
              <a:rPr lang="en-US" sz="800" dirty="0" smtClean="0">
                <a:solidFill>
                  <a:prstClr val="black"/>
                </a:solidFill>
                <a:ea typeface="+mn-ea"/>
                <a:cs typeface="+mn-cs"/>
              </a:rPr>
            </a:br>
            <a:r>
              <a:rPr lang="en-US" sz="800" dirty="0">
                <a:solidFill>
                  <a:prstClr val="black"/>
                </a:solidFill>
                <a:ea typeface="+mn-ea"/>
                <a:cs typeface="+mn-cs"/>
              </a:rPr>
              <a:t/>
            </a:r>
            <a:br>
              <a:rPr lang="en-US" sz="800" dirty="0">
                <a:solidFill>
                  <a:prstClr val="black"/>
                </a:solidFill>
                <a:ea typeface="+mn-ea"/>
                <a:cs typeface="+mn-cs"/>
              </a:rPr>
            </a:br>
            <a:r>
              <a:rPr lang="en-US" sz="800" dirty="0" smtClean="0">
                <a:solidFill>
                  <a:prstClr val="black"/>
                </a:solidFill>
                <a:ea typeface="+mn-ea"/>
                <a:cs typeface="+mn-cs"/>
              </a:rPr>
              <a:t/>
            </a:r>
            <a:br>
              <a:rPr lang="en-US" sz="800" dirty="0" smtClean="0">
                <a:solidFill>
                  <a:prstClr val="black"/>
                </a:solidFill>
                <a:ea typeface="+mn-ea"/>
                <a:cs typeface="+mn-cs"/>
              </a:rPr>
            </a:br>
            <a:r>
              <a:rPr lang="en-US" sz="1600" dirty="0" smtClean="0">
                <a:solidFill>
                  <a:prstClr val="black"/>
                </a:solidFill>
                <a:ea typeface="+mn-ea"/>
                <a:cs typeface="+mn-cs"/>
              </a:rPr>
              <a:t>ACTIVITY </a:t>
            </a:r>
            <a:r>
              <a:rPr lang="en-US" sz="1600" dirty="0">
                <a:solidFill>
                  <a:prstClr val="black"/>
                </a:solidFill>
                <a:ea typeface="+mn-ea"/>
                <a:cs typeface="+mn-cs"/>
              </a:rPr>
              <a:t>1 - Read the definitions of ‘education’ and the sources provided below.</a:t>
            </a:r>
            <a:br>
              <a:rPr lang="en-US" sz="1600" dirty="0">
                <a:solidFill>
                  <a:prstClr val="black"/>
                </a:solidFill>
                <a:ea typeface="+mn-ea"/>
                <a:cs typeface="+mn-cs"/>
              </a:rPr>
            </a:br>
            <a:r>
              <a:rPr lang="en-US" sz="1600" dirty="0">
                <a:solidFill>
                  <a:prstClr val="black"/>
                </a:solidFill>
                <a:ea typeface="+mn-ea"/>
                <a:cs typeface="+mn-cs"/>
              </a:rPr>
              <a:t>TASK 1. Decide if they are spoken (S) or written (W).</a:t>
            </a:r>
            <a:r>
              <a:rPr lang="en-US" sz="800" dirty="0">
                <a:solidFill>
                  <a:prstClr val="black"/>
                </a:solidFill>
                <a:ea typeface="+mn-ea"/>
                <a:cs typeface="+mn-cs"/>
              </a:rPr>
              <a:t/>
            </a:r>
            <a:br>
              <a:rPr lang="en-US" sz="800" dirty="0">
                <a:solidFill>
                  <a:prstClr val="black"/>
                </a:solidFill>
                <a:ea typeface="+mn-ea"/>
                <a:cs typeface="+mn-cs"/>
              </a:rPr>
            </a:br>
            <a:endParaRPr lang="tr-TR" dirty="0"/>
          </a:p>
        </p:txBody>
      </p:sp>
      <p:sp>
        <p:nvSpPr>
          <p:cNvPr id="3" name="İçerik Yer Tutucusu 2"/>
          <p:cNvSpPr>
            <a:spLocks noGrp="1"/>
          </p:cNvSpPr>
          <p:nvPr>
            <p:ph idx="1"/>
          </p:nvPr>
        </p:nvSpPr>
        <p:spPr>
          <a:xfrm>
            <a:off x="685800" y="1219200"/>
            <a:ext cx="7620000" cy="5105400"/>
          </a:xfrm>
        </p:spPr>
        <p:txBody>
          <a:bodyPr>
            <a:normAutofit fontScale="25000" lnSpcReduction="20000"/>
          </a:bodyPr>
          <a:lstStyle/>
          <a:p>
            <a:pPr marL="36000">
              <a:lnSpc>
                <a:spcPct val="120000"/>
              </a:lnSpc>
              <a:spcBef>
                <a:spcPts val="0"/>
              </a:spcBef>
            </a:pPr>
            <a:r>
              <a:rPr lang="en-US" dirty="0" smtClean="0"/>
              <a:t>______ </a:t>
            </a:r>
            <a:r>
              <a:rPr lang="en-US" sz="4400" dirty="0"/>
              <a:t>1. \ ˌe-</a:t>
            </a:r>
            <a:r>
              <a:rPr lang="en-US" sz="4400" dirty="0" err="1"/>
              <a:t>jə</a:t>
            </a:r>
            <a:r>
              <a:rPr lang="en-US" sz="4400" dirty="0"/>
              <a:t>-ˈ</a:t>
            </a:r>
            <a:r>
              <a:rPr lang="en-US" sz="4400" dirty="0" err="1"/>
              <a:t>kā-shən</a:t>
            </a:r>
            <a:r>
              <a:rPr lang="en-US" sz="4400" dirty="0"/>
              <a:t>\ [uncountable, singular] a process of teaching, training, and</a:t>
            </a:r>
          </a:p>
          <a:p>
            <a:pPr marL="36000">
              <a:lnSpc>
                <a:spcPct val="120000"/>
              </a:lnSpc>
              <a:spcBef>
                <a:spcPts val="0"/>
              </a:spcBef>
            </a:pPr>
            <a:r>
              <a:rPr lang="en-US" sz="4400" dirty="0"/>
              <a:t>learning, especially in schools or colleges, to improve knowledge and develop skills</a:t>
            </a:r>
          </a:p>
          <a:p>
            <a:pPr marL="36000">
              <a:lnSpc>
                <a:spcPct val="120000"/>
              </a:lnSpc>
              <a:spcBef>
                <a:spcPts val="0"/>
              </a:spcBef>
            </a:pPr>
            <a:r>
              <a:rPr lang="en-US" sz="4400" dirty="0"/>
              <a:t>______ 2. Instruction, schooling, teaching, training, tuition, tutelage, tutoring</a:t>
            </a:r>
          </a:p>
          <a:p>
            <a:pPr marL="36000">
              <a:lnSpc>
                <a:spcPct val="120000"/>
              </a:lnSpc>
              <a:spcBef>
                <a:spcPts val="0"/>
              </a:spcBef>
            </a:pPr>
            <a:r>
              <a:rPr lang="en-US" sz="4400" dirty="0"/>
              <a:t>______ 3. Dewey defines education as “… a deliberate conscious effort … to create an</a:t>
            </a:r>
          </a:p>
          <a:p>
            <a:pPr marL="36000">
              <a:lnSpc>
                <a:spcPct val="120000"/>
              </a:lnSpc>
              <a:spcBef>
                <a:spcPts val="0"/>
              </a:spcBef>
            </a:pPr>
            <a:r>
              <a:rPr lang="en-US" sz="4400" dirty="0"/>
              <a:t>atmosphere of learning and the learning process so that learners can actively develop</a:t>
            </a:r>
          </a:p>
          <a:p>
            <a:pPr marL="36000">
              <a:lnSpc>
                <a:spcPct val="120000"/>
              </a:lnSpc>
              <a:spcBef>
                <a:spcPts val="0"/>
              </a:spcBef>
            </a:pPr>
            <a:r>
              <a:rPr lang="en-US" sz="4400" dirty="0"/>
              <a:t>their potential” (2019).</a:t>
            </a:r>
          </a:p>
          <a:p>
            <a:pPr marL="36000">
              <a:lnSpc>
                <a:spcPct val="120000"/>
              </a:lnSpc>
              <a:spcBef>
                <a:spcPts val="0"/>
              </a:spcBef>
            </a:pPr>
            <a:r>
              <a:rPr lang="en-US" sz="4400" dirty="0" smtClean="0"/>
              <a:t>______ </a:t>
            </a:r>
            <a:r>
              <a:rPr lang="en-US" sz="4400" dirty="0"/>
              <a:t>4. As many of you would agree, some of the students at this university believe</a:t>
            </a:r>
          </a:p>
          <a:p>
            <a:pPr marL="36000">
              <a:lnSpc>
                <a:spcPct val="120000"/>
              </a:lnSpc>
              <a:spcBef>
                <a:spcPts val="0"/>
              </a:spcBef>
            </a:pPr>
            <a:r>
              <a:rPr lang="en-US" sz="4400" dirty="0"/>
              <a:t>education to be an intermittent or a periodical process but, as others agree, it is a life-long</a:t>
            </a:r>
          </a:p>
          <a:p>
            <a:pPr marL="36000">
              <a:lnSpc>
                <a:spcPct val="120000"/>
              </a:lnSpc>
              <a:spcBef>
                <a:spcPts val="0"/>
              </a:spcBef>
            </a:pPr>
            <a:r>
              <a:rPr lang="en-US" sz="4400" dirty="0"/>
              <a:t>process for each individual.</a:t>
            </a:r>
          </a:p>
          <a:p>
            <a:pPr marL="36000">
              <a:lnSpc>
                <a:spcPct val="120000"/>
              </a:lnSpc>
              <a:spcBef>
                <a:spcPts val="0"/>
              </a:spcBef>
            </a:pPr>
            <a:r>
              <a:rPr lang="en-US" sz="4400" dirty="0"/>
              <a:t>______ 5. If it's compatible with my career I could have a shot at it, but at the moment it's</a:t>
            </a:r>
          </a:p>
          <a:p>
            <a:pPr marL="36000">
              <a:lnSpc>
                <a:spcPct val="120000"/>
              </a:lnSpc>
              <a:spcBef>
                <a:spcPts val="0"/>
              </a:spcBef>
            </a:pPr>
            <a:r>
              <a:rPr lang="en-US" sz="4400" dirty="0"/>
              <a:t>not something I am focusing on. I travel with a tutor at all times but I am not so into school.</a:t>
            </a:r>
          </a:p>
          <a:p>
            <a:pPr marL="36000">
              <a:lnSpc>
                <a:spcPct val="120000"/>
              </a:lnSpc>
              <a:spcBef>
                <a:spcPts val="0"/>
              </a:spcBef>
            </a:pPr>
            <a:r>
              <a:rPr lang="en-US" sz="4400" dirty="0"/>
              <a:t>There are some subjects I really don't care for, such as </a:t>
            </a:r>
            <a:r>
              <a:rPr lang="en-US" sz="4400" dirty="0" err="1"/>
              <a:t>maths</a:t>
            </a:r>
            <a:r>
              <a:rPr lang="en-US" sz="4400" dirty="0"/>
              <a:t>.</a:t>
            </a:r>
          </a:p>
          <a:p>
            <a:pPr marL="36000">
              <a:lnSpc>
                <a:spcPct val="120000"/>
              </a:lnSpc>
              <a:spcBef>
                <a:spcPts val="0"/>
              </a:spcBef>
            </a:pPr>
            <a:r>
              <a:rPr lang="en-US" sz="4400" dirty="0"/>
              <a:t>______ 6. Through the Dark Sod — as Education —</a:t>
            </a:r>
          </a:p>
          <a:p>
            <a:pPr marL="36000">
              <a:lnSpc>
                <a:spcPct val="120000"/>
              </a:lnSpc>
              <a:spcBef>
                <a:spcPts val="0"/>
              </a:spcBef>
            </a:pPr>
            <a:r>
              <a:rPr lang="en-US" sz="4400" dirty="0"/>
              <a:t>The Lily passes sure —</a:t>
            </a:r>
          </a:p>
          <a:p>
            <a:pPr marL="36000">
              <a:lnSpc>
                <a:spcPct val="120000"/>
              </a:lnSpc>
              <a:spcBef>
                <a:spcPts val="0"/>
              </a:spcBef>
            </a:pPr>
            <a:r>
              <a:rPr lang="en-US" sz="4400" dirty="0"/>
              <a:t>Feels her white foot — no trepidation —</a:t>
            </a:r>
          </a:p>
          <a:p>
            <a:pPr marL="36000">
              <a:lnSpc>
                <a:spcPct val="120000"/>
              </a:lnSpc>
              <a:spcBef>
                <a:spcPts val="0"/>
              </a:spcBef>
            </a:pPr>
            <a:r>
              <a:rPr lang="en-US" sz="4400" dirty="0"/>
              <a:t>Her faith — no fear —</a:t>
            </a:r>
          </a:p>
          <a:p>
            <a:pPr marL="36000">
              <a:lnSpc>
                <a:spcPct val="120000"/>
              </a:lnSpc>
              <a:spcBef>
                <a:spcPts val="0"/>
              </a:spcBef>
            </a:pPr>
            <a:r>
              <a:rPr lang="en-US" sz="4400" dirty="0"/>
              <a:t>______ 7. Oh! This is an unexpected question! Education to me is very important –</a:t>
            </a:r>
          </a:p>
          <a:p>
            <a:pPr marL="36000">
              <a:lnSpc>
                <a:spcPct val="120000"/>
              </a:lnSpc>
              <a:spcBef>
                <a:spcPts val="0"/>
              </a:spcBef>
            </a:pPr>
            <a:r>
              <a:rPr lang="en-US" sz="4400" dirty="0"/>
              <a:t>everybody learns through education, this may be at school or at home. Right?</a:t>
            </a:r>
          </a:p>
          <a:p>
            <a:pPr marL="36000">
              <a:lnSpc>
                <a:spcPct val="120000"/>
              </a:lnSpc>
              <a:spcBef>
                <a:spcPts val="0"/>
              </a:spcBef>
            </a:pPr>
            <a:endParaRPr lang="en-US" sz="4400" dirty="0" smtClean="0"/>
          </a:p>
          <a:p>
            <a:pPr marL="36000">
              <a:lnSpc>
                <a:spcPct val="120000"/>
              </a:lnSpc>
              <a:spcBef>
                <a:spcPts val="0"/>
              </a:spcBef>
            </a:pPr>
            <a:r>
              <a:rPr lang="en-US" sz="4400" dirty="0" smtClean="0">
                <a:solidFill>
                  <a:srgbClr val="FF0000"/>
                </a:solidFill>
              </a:rPr>
              <a:t>TASK </a:t>
            </a:r>
            <a:r>
              <a:rPr lang="en-US" sz="4400" dirty="0">
                <a:solidFill>
                  <a:srgbClr val="FF0000"/>
                </a:solidFill>
              </a:rPr>
              <a:t>2.</a:t>
            </a:r>
            <a:r>
              <a:rPr lang="en-US" sz="4400" dirty="0"/>
              <a:t> Match each definition with its source.</a:t>
            </a:r>
          </a:p>
          <a:p>
            <a:pPr marL="36000">
              <a:lnSpc>
                <a:spcPct val="120000"/>
              </a:lnSpc>
              <a:spcBef>
                <a:spcPts val="0"/>
              </a:spcBef>
            </a:pPr>
            <a:r>
              <a:rPr lang="en-US" sz="4400" dirty="0"/>
              <a:t>______ a. A lecture on education</a:t>
            </a:r>
          </a:p>
          <a:p>
            <a:pPr marL="36000">
              <a:lnSpc>
                <a:spcPct val="120000"/>
              </a:lnSpc>
              <a:spcBef>
                <a:spcPts val="0"/>
              </a:spcBef>
            </a:pPr>
            <a:r>
              <a:rPr lang="en-US" sz="4400" dirty="0"/>
              <a:t>______ b. A comment during a survey</a:t>
            </a:r>
          </a:p>
          <a:p>
            <a:pPr marL="36000">
              <a:lnSpc>
                <a:spcPct val="120000"/>
              </a:lnSpc>
              <a:spcBef>
                <a:spcPts val="0"/>
              </a:spcBef>
            </a:pPr>
            <a:r>
              <a:rPr lang="en-US" sz="4400" dirty="0"/>
              <a:t>______ c. A journal article</a:t>
            </a:r>
          </a:p>
          <a:p>
            <a:pPr marL="36000">
              <a:lnSpc>
                <a:spcPct val="120000"/>
              </a:lnSpc>
              <a:spcBef>
                <a:spcPts val="0"/>
              </a:spcBef>
            </a:pPr>
            <a:r>
              <a:rPr lang="en-US" sz="4400" dirty="0"/>
              <a:t>______ d. Collins </a:t>
            </a:r>
            <a:r>
              <a:rPr lang="en-US" sz="4400" dirty="0" err="1"/>
              <a:t>Cobuild</a:t>
            </a:r>
            <a:r>
              <a:rPr lang="en-US" sz="4400" dirty="0"/>
              <a:t> English Dictionary</a:t>
            </a:r>
          </a:p>
          <a:p>
            <a:pPr marL="36000">
              <a:lnSpc>
                <a:spcPct val="120000"/>
              </a:lnSpc>
              <a:spcBef>
                <a:spcPts val="0"/>
              </a:spcBef>
            </a:pPr>
            <a:r>
              <a:rPr lang="en-US" sz="4400" dirty="0"/>
              <a:t>______ e. A poem by Emily Dickinson (1830 – 1886)</a:t>
            </a:r>
          </a:p>
          <a:p>
            <a:pPr marL="36000">
              <a:lnSpc>
                <a:spcPct val="120000"/>
              </a:lnSpc>
              <a:spcBef>
                <a:spcPts val="0"/>
              </a:spcBef>
            </a:pPr>
            <a:r>
              <a:rPr lang="en-US" sz="4400" dirty="0"/>
              <a:t>______ f. Justin Bieber during an interview</a:t>
            </a:r>
          </a:p>
          <a:p>
            <a:pPr marL="36000">
              <a:lnSpc>
                <a:spcPct val="120000"/>
              </a:lnSpc>
              <a:spcBef>
                <a:spcPts val="0"/>
              </a:spcBef>
            </a:pPr>
            <a:r>
              <a:rPr lang="en-US" sz="4400" dirty="0"/>
              <a:t>______ g. Merriam-Webster Thesaurus</a:t>
            </a:r>
            <a:endParaRPr lang="tr-TR" sz="4400" dirty="0"/>
          </a:p>
        </p:txBody>
      </p:sp>
    </p:spTree>
    <p:extLst>
      <p:ext uri="{BB962C8B-B14F-4D97-AF65-F5344CB8AC3E}">
        <p14:creationId xmlns:p14="http://schemas.microsoft.com/office/powerpoint/2010/main" val="19948119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914400" y="304800"/>
            <a:ext cx="7313613" cy="1066800"/>
          </a:xfrm>
        </p:spPr>
        <p:txBody>
          <a:bodyPr/>
          <a:lstStyle/>
          <a:p>
            <a:pPr marL="463550" lvl="0" indent="-463550">
              <a:spcBef>
                <a:spcPts val="2000"/>
              </a:spcBef>
            </a:pPr>
            <a:r>
              <a:rPr lang="en-US" sz="1600" dirty="0">
                <a:solidFill>
                  <a:srgbClr val="FF0000"/>
                </a:solidFill>
                <a:ea typeface="+mn-ea"/>
                <a:cs typeface="+mn-cs"/>
              </a:rPr>
              <a:t>ACTIVITY 2</a:t>
            </a:r>
            <a:r>
              <a:rPr lang="en-US" sz="1600" dirty="0">
                <a:solidFill>
                  <a:prstClr val="black"/>
                </a:solidFill>
                <a:ea typeface="+mn-ea"/>
                <a:cs typeface="+mn-cs"/>
              </a:rPr>
              <a:t> – Read the sentences below. Decide if the sentences are formal (F) or </a:t>
            </a:r>
            <a:r>
              <a:rPr lang="en-US" sz="1600" dirty="0" smtClean="0">
                <a:solidFill>
                  <a:prstClr val="black"/>
                </a:solidFill>
                <a:ea typeface="+mn-ea"/>
                <a:cs typeface="+mn-cs"/>
              </a:rPr>
              <a:t>informal (I).</a:t>
            </a:r>
            <a:r>
              <a:rPr lang="en-US" sz="600" dirty="0">
                <a:solidFill>
                  <a:prstClr val="black"/>
                </a:solidFill>
                <a:ea typeface="+mn-ea"/>
                <a:cs typeface="+mn-cs"/>
              </a:rPr>
              <a:t/>
            </a:r>
            <a:br>
              <a:rPr lang="en-US" sz="600" dirty="0">
                <a:solidFill>
                  <a:prstClr val="black"/>
                </a:solidFill>
                <a:ea typeface="+mn-ea"/>
                <a:cs typeface="+mn-cs"/>
              </a:rPr>
            </a:br>
            <a:endParaRPr lang="tr-TR" dirty="0"/>
          </a:p>
        </p:txBody>
      </p:sp>
      <p:sp>
        <p:nvSpPr>
          <p:cNvPr id="3" name="İçerik Yer Tutucusu 2"/>
          <p:cNvSpPr>
            <a:spLocks noGrp="1"/>
          </p:cNvSpPr>
          <p:nvPr>
            <p:ph idx="1"/>
          </p:nvPr>
        </p:nvSpPr>
        <p:spPr>
          <a:xfrm>
            <a:off x="609600" y="1066800"/>
            <a:ext cx="7618413" cy="4724400"/>
          </a:xfrm>
        </p:spPr>
        <p:txBody>
          <a:bodyPr>
            <a:noAutofit/>
          </a:bodyPr>
          <a:lstStyle/>
          <a:p>
            <a:r>
              <a:rPr lang="en-US" sz="1600" dirty="0" smtClean="0"/>
              <a:t>______ </a:t>
            </a:r>
            <a:r>
              <a:rPr lang="en-US" sz="1600" dirty="0"/>
              <a:t>1. So, so you think you can tell, heaven from hell? Blue skies from pain?</a:t>
            </a:r>
          </a:p>
          <a:p>
            <a:r>
              <a:rPr lang="en-US" sz="1600" dirty="0"/>
              <a:t>______ 2. This is definitely worth a read!</a:t>
            </a:r>
          </a:p>
          <a:p>
            <a:r>
              <a:rPr lang="en-US" sz="1600" dirty="0"/>
              <a:t>______ 3. The report on the preparedness for an earthquake has been published by </a:t>
            </a:r>
            <a:r>
              <a:rPr lang="en-US" sz="1600" dirty="0" smtClean="0"/>
              <a:t>the Chancellor</a:t>
            </a:r>
            <a:r>
              <a:rPr lang="en-US" sz="1600" dirty="0"/>
              <a:t>.</a:t>
            </a:r>
          </a:p>
          <a:p>
            <a:r>
              <a:rPr lang="en-US" sz="1600" dirty="0"/>
              <a:t>______ 4. We’re expecting the Chancellor’s report. She’ll soon tell us how prepared we </a:t>
            </a:r>
            <a:r>
              <a:rPr lang="en-US" sz="1600" dirty="0" smtClean="0"/>
              <a:t>are for </a:t>
            </a:r>
            <a:r>
              <a:rPr lang="en-US" sz="1600" dirty="0"/>
              <a:t>an earthquake.</a:t>
            </a:r>
          </a:p>
          <a:p>
            <a:r>
              <a:rPr lang="en-US" sz="1600" dirty="0"/>
              <a:t>______ 5. The seven reasons why this book should be read are listed below.</a:t>
            </a:r>
          </a:p>
          <a:p>
            <a:r>
              <a:rPr lang="en-US" sz="1600" dirty="0"/>
              <a:t>______ 6. New research shows that the undersea cables that connect the global </a:t>
            </a:r>
            <a:r>
              <a:rPr lang="en-US" sz="1600" dirty="0" smtClean="0"/>
              <a:t>internet would </a:t>
            </a:r>
            <a:r>
              <a:rPr lang="en-US" sz="1600" dirty="0"/>
              <a:t>be severely affected by the next big solar storm.</a:t>
            </a:r>
          </a:p>
          <a:p>
            <a:r>
              <a:rPr lang="en-US" sz="1600" dirty="0"/>
              <a:t>______ 7. Solar storm - it’ll only destroy if the eruptions reach us, and even if they do</a:t>
            </a:r>
            <a:r>
              <a:rPr lang="en-US" sz="1600"/>
              <a:t>, </a:t>
            </a:r>
            <a:r>
              <a:rPr lang="en-US" sz="1600" smtClean="0"/>
              <a:t>they can </a:t>
            </a:r>
            <a:r>
              <a:rPr lang="en-US" sz="1600" dirty="0"/>
              <a:t>only damage power grids</a:t>
            </a:r>
            <a:endParaRPr lang="tr-TR" sz="1600" dirty="0"/>
          </a:p>
        </p:txBody>
      </p:sp>
    </p:spTree>
    <p:extLst>
      <p:ext uri="{BB962C8B-B14F-4D97-AF65-F5344CB8AC3E}">
        <p14:creationId xmlns:p14="http://schemas.microsoft.com/office/powerpoint/2010/main" val="10296126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t>Guidelines for Academic Writing</a:t>
            </a:r>
            <a:endParaRPr lang="en-US" sz="3600" b="1" dirty="0"/>
          </a:p>
        </p:txBody>
      </p:sp>
      <p:sp>
        <p:nvSpPr>
          <p:cNvPr id="3" name="Content Placeholder 2"/>
          <p:cNvSpPr>
            <a:spLocks noGrp="1"/>
          </p:cNvSpPr>
          <p:nvPr>
            <p:ph idx="1"/>
          </p:nvPr>
        </p:nvSpPr>
        <p:spPr/>
        <p:txBody>
          <a:bodyPr/>
          <a:lstStyle/>
          <a:p>
            <a:pPr marL="0" indent="0">
              <a:buNone/>
            </a:pPr>
            <a:r>
              <a:rPr lang="en-US" b="1" dirty="0"/>
              <a:t>1- </a:t>
            </a:r>
            <a:r>
              <a:rPr lang="en-US" dirty="0">
                <a:solidFill>
                  <a:srgbClr val="FF0000"/>
                </a:solidFill>
              </a:rPr>
              <a:t>Avoid</a:t>
            </a:r>
            <a:r>
              <a:rPr lang="en-US" b="1" dirty="0">
                <a:solidFill>
                  <a:srgbClr val="FF0000"/>
                </a:solidFill>
              </a:rPr>
              <a:t> contractions </a:t>
            </a:r>
            <a:r>
              <a:rPr lang="en-US" b="1" dirty="0"/>
              <a:t>(</a:t>
            </a:r>
            <a:r>
              <a:rPr lang="en-US" dirty="0"/>
              <a:t>can’t</a:t>
            </a:r>
            <a:r>
              <a:rPr lang="en-US" b="1" dirty="0"/>
              <a:t>), </a:t>
            </a:r>
            <a:r>
              <a:rPr lang="en-US" b="1" dirty="0">
                <a:solidFill>
                  <a:srgbClr val="FF0000"/>
                </a:solidFill>
              </a:rPr>
              <a:t>abbreviations </a:t>
            </a:r>
            <a:r>
              <a:rPr lang="en-US" b="1" dirty="0"/>
              <a:t>(</a:t>
            </a:r>
            <a:r>
              <a:rPr lang="en-US" dirty="0" err="1"/>
              <a:t>e.g</a:t>
            </a:r>
            <a:r>
              <a:rPr lang="tr-TR" dirty="0"/>
              <a:t>.</a:t>
            </a:r>
            <a:r>
              <a:rPr lang="en-US" b="1" dirty="0"/>
              <a:t>) </a:t>
            </a:r>
            <a:r>
              <a:rPr lang="en-US" dirty="0"/>
              <a:t>and</a:t>
            </a:r>
            <a:r>
              <a:rPr lang="tr-TR" b="1" dirty="0"/>
              <a:t> </a:t>
            </a:r>
            <a:r>
              <a:rPr lang="en-US" b="1" dirty="0">
                <a:solidFill>
                  <a:srgbClr val="FF0000"/>
                </a:solidFill>
              </a:rPr>
              <a:t>acronyms</a:t>
            </a:r>
            <a:r>
              <a:rPr lang="en-US" b="1" dirty="0"/>
              <a:t> (</a:t>
            </a:r>
            <a:r>
              <a:rPr lang="en-US" dirty="0"/>
              <a:t>NATO</a:t>
            </a:r>
            <a:r>
              <a:rPr lang="en-US" b="1" dirty="0"/>
              <a:t>).</a:t>
            </a:r>
            <a:endParaRPr lang="tr-TR" b="1" dirty="0"/>
          </a:p>
          <a:p>
            <a:r>
              <a:rPr lang="tr-TR" b="1" dirty="0"/>
              <a:t>Weaker</a:t>
            </a:r>
            <a:r>
              <a:rPr lang="en-US" b="1" dirty="0"/>
              <a:t> use</a:t>
            </a:r>
            <a:r>
              <a:rPr lang="en-US" dirty="0"/>
              <a:t>: The statistics in this document doesn’t support FDH’s recent report. </a:t>
            </a:r>
          </a:p>
          <a:p>
            <a:r>
              <a:rPr lang="tr-TR" b="1" dirty="0"/>
              <a:t>Better</a:t>
            </a:r>
            <a:r>
              <a:rPr lang="en-US" b="1" dirty="0"/>
              <a:t> use:</a:t>
            </a:r>
            <a:r>
              <a:rPr lang="en-US" dirty="0"/>
              <a:t> The statistics in this document does not support the recent report of Florida Department of Health (FDH).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t>Guidelines for Academic Writing</a:t>
            </a:r>
            <a:endParaRPr lang="en-US" sz="3600" dirty="0"/>
          </a:p>
        </p:txBody>
      </p:sp>
      <p:sp>
        <p:nvSpPr>
          <p:cNvPr id="3" name="Content Placeholder 2"/>
          <p:cNvSpPr>
            <a:spLocks noGrp="1"/>
          </p:cNvSpPr>
          <p:nvPr>
            <p:ph idx="1"/>
          </p:nvPr>
        </p:nvSpPr>
        <p:spPr/>
        <p:txBody>
          <a:bodyPr>
            <a:normAutofit/>
          </a:bodyPr>
          <a:lstStyle/>
          <a:p>
            <a:pPr marL="0" indent="0">
              <a:buNone/>
            </a:pPr>
            <a:r>
              <a:rPr lang="en-US" b="1" dirty="0" smtClean="0"/>
              <a:t>2)</a:t>
            </a:r>
            <a:r>
              <a:rPr lang="en-US" dirty="0" smtClean="0"/>
              <a:t> </a:t>
            </a:r>
            <a:r>
              <a:rPr lang="en-US" b="1" dirty="0" smtClean="0">
                <a:solidFill>
                  <a:srgbClr val="FF0000"/>
                </a:solidFill>
              </a:rPr>
              <a:t>Avoid using informal phrasal verbs, idioms, slang, emotional language and clichés. </a:t>
            </a:r>
            <a:endParaRPr lang="en-US" dirty="0" smtClean="0">
              <a:solidFill>
                <a:srgbClr val="FF0000"/>
              </a:solidFill>
            </a:endParaRPr>
          </a:p>
          <a:p>
            <a:r>
              <a:rPr lang="en-US" dirty="0" smtClean="0"/>
              <a:t>“The science geeks found gravitational waves. Isn’t that awesome?”</a:t>
            </a:r>
          </a:p>
          <a:p>
            <a:r>
              <a:rPr lang="en-US" dirty="0" smtClean="0"/>
              <a:t>“The detection of gravitational waves by Laser Interferometer Gravitational-Wave Observatory (LIGO) is a significant milestone in Physics.”  </a:t>
            </a:r>
          </a:p>
          <a:p>
            <a:pPr marL="0" indent="0">
              <a:buNone/>
            </a:pPr>
            <a:endParaRPr lang="en-US" b="1"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t>Guidelines for Academic Writing</a:t>
            </a:r>
            <a:endParaRPr lang="en-US" sz="3600" b="1"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t>3)</a:t>
            </a:r>
            <a:r>
              <a:rPr lang="en-US" dirty="0" smtClean="0"/>
              <a:t> </a:t>
            </a:r>
            <a:r>
              <a:rPr lang="en-US" b="1" dirty="0" smtClean="0">
                <a:solidFill>
                  <a:srgbClr val="FF0000"/>
                </a:solidFill>
              </a:rPr>
              <a:t>Avoid using personal tone</a:t>
            </a:r>
            <a:endParaRPr lang="en-US" dirty="0" smtClean="0">
              <a:solidFill>
                <a:srgbClr val="FF0000"/>
              </a:solidFill>
            </a:endParaRPr>
          </a:p>
          <a:p>
            <a:r>
              <a:rPr lang="en-US" dirty="0" smtClean="0"/>
              <a:t>The </a:t>
            </a:r>
            <a:r>
              <a:rPr lang="en-US" b="1" dirty="0" smtClean="0"/>
              <a:t>tone</a:t>
            </a:r>
            <a:r>
              <a:rPr lang="en-US" dirty="0" smtClean="0"/>
              <a:t> in academic texts is </a:t>
            </a:r>
            <a:r>
              <a:rPr lang="en-US" b="1" dirty="0" smtClean="0"/>
              <a:t>polite</a:t>
            </a:r>
            <a:r>
              <a:rPr lang="en-US" dirty="0" smtClean="0"/>
              <a:t> and </a:t>
            </a:r>
            <a:r>
              <a:rPr lang="en-US" b="1" dirty="0" smtClean="0"/>
              <a:t>impersonal</a:t>
            </a:r>
            <a:r>
              <a:rPr lang="en-US" dirty="0" smtClean="0"/>
              <a:t> unlike the personal tone of informal writing. </a:t>
            </a:r>
            <a:r>
              <a:rPr lang="en-US" b="1" dirty="0" smtClean="0"/>
              <a:t>Third person narration</a:t>
            </a:r>
            <a:r>
              <a:rPr lang="en-US" dirty="0" smtClean="0"/>
              <a:t> (people/the reader/one) is preferred over first and second person narration (I/we/you).</a:t>
            </a:r>
          </a:p>
          <a:p>
            <a:r>
              <a:rPr lang="en-US" b="1" dirty="0" smtClean="0"/>
              <a:t>Incorrect use: </a:t>
            </a:r>
            <a:r>
              <a:rPr lang="en-US" dirty="0" smtClean="0"/>
              <a:t>I believe</a:t>
            </a:r>
            <a:r>
              <a:rPr lang="en-US" b="1" dirty="0" smtClean="0"/>
              <a:t> </a:t>
            </a:r>
            <a:r>
              <a:rPr lang="en-US" dirty="0" smtClean="0"/>
              <a:t>we should all start thinking about climate change. </a:t>
            </a:r>
            <a:r>
              <a:rPr lang="en-US" b="1" dirty="0" smtClean="0"/>
              <a:t> </a:t>
            </a:r>
            <a:endParaRPr lang="en-US" dirty="0" smtClean="0"/>
          </a:p>
          <a:p>
            <a:r>
              <a:rPr lang="en-US" b="1" dirty="0" smtClean="0"/>
              <a:t>Correct use:</a:t>
            </a:r>
            <a:r>
              <a:rPr lang="en-US" dirty="0" smtClean="0"/>
              <a:t> It is time for people to be concerned about the rapid changes in the climate.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t>Guidelines for Academic Writing</a:t>
            </a:r>
            <a:endParaRPr lang="en-US" sz="3600" dirty="0"/>
          </a:p>
        </p:txBody>
      </p:sp>
      <p:sp>
        <p:nvSpPr>
          <p:cNvPr id="3" name="Content Placeholder 2"/>
          <p:cNvSpPr>
            <a:spLocks noGrp="1"/>
          </p:cNvSpPr>
          <p:nvPr>
            <p:ph idx="1"/>
          </p:nvPr>
        </p:nvSpPr>
        <p:spPr/>
        <p:txBody>
          <a:bodyPr/>
          <a:lstStyle/>
          <a:p>
            <a:pPr marL="0" indent="0">
              <a:buNone/>
            </a:pPr>
            <a:r>
              <a:rPr lang="en-US" b="1" dirty="0" smtClean="0"/>
              <a:t>4) </a:t>
            </a:r>
            <a:r>
              <a:rPr lang="en-US" b="1" dirty="0" smtClean="0">
                <a:solidFill>
                  <a:srgbClr val="FF0000"/>
                </a:solidFill>
              </a:rPr>
              <a:t>Use</a:t>
            </a:r>
            <a:r>
              <a:rPr lang="en-US" b="1" dirty="0" smtClean="0"/>
              <a:t> </a:t>
            </a:r>
            <a:r>
              <a:rPr lang="en-US" b="1" dirty="0" smtClean="0">
                <a:solidFill>
                  <a:srgbClr val="FF0000"/>
                </a:solidFill>
              </a:rPr>
              <a:t>proper</a:t>
            </a:r>
            <a:r>
              <a:rPr lang="en-US" b="1" dirty="0" smtClean="0"/>
              <a:t> </a:t>
            </a:r>
            <a:r>
              <a:rPr lang="en-US" b="1" dirty="0" smtClean="0">
                <a:solidFill>
                  <a:srgbClr val="FF0000"/>
                </a:solidFill>
              </a:rPr>
              <a:t>punctuation</a:t>
            </a:r>
            <a:r>
              <a:rPr lang="en-US" b="1" dirty="0" smtClean="0"/>
              <a:t> and </a:t>
            </a:r>
            <a:r>
              <a:rPr lang="en-US" b="1" dirty="0" smtClean="0">
                <a:solidFill>
                  <a:srgbClr val="FF0000"/>
                </a:solidFill>
              </a:rPr>
              <a:t>capitalization</a:t>
            </a:r>
            <a:r>
              <a:rPr lang="en-US" b="1" dirty="0" smtClean="0"/>
              <a:t>. </a:t>
            </a:r>
            <a:endParaRPr lang="en-US" dirty="0" smtClean="0"/>
          </a:p>
          <a:p>
            <a:r>
              <a:rPr lang="en-US" dirty="0" smtClean="0"/>
              <a:t>In academic texts, brackets () and dashes (-) should not be used to add information. Instead, colons (:) and semi-colons (;) are preferred. </a:t>
            </a:r>
          </a:p>
          <a:p>
            <a:r>
              <a:rPr lang="en-US" dirty="0" smtClean="0"/>
              <a:t>Also, exclamation marks (!) are not commonly used in academic writing.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t>Guidelines for Academic Writing</a:t>
            </a:r>
            <a:endParaRPr lang="en-US" sz="3600" dirty="0"/>
          </a:p>
        </p:txBody>
      </p:sp>
      <p:sp>
        <p:nvSpPr>
          <p:cNvPr id="3" name="Content Placeholder 2"/>
          <p:cNvSpPr>
            <a:spLocks noGrp="1"/>
          </p:cNvSpPr>
          <p:nvPr>
            <p:ph idx="1"/>
          </p:nvPr>
        </p:nvSpPr>
        <p:spPr/>
        <p:txBody>
          <a:bodyPr>
            <a:normAutofit fontScale="85000" lnSpcReduction="20000"/>
          </a:bodyPr>
          <a:lstStyle/>
          <a:p>
            <a:pPr marL="0" indent="0">
              <a:buNone/>
            </a:pPr>
            <a:r>
              <a:rPr lang="en-US" b="1" dirty="0" smtClean="0"/>
              <a:t>5)</a:t>
            </a:r>
            <a:r>
              <a:rPr lang="en-US" dirty="0" smtClean="0"/>
              <a:t> </a:t>
            </a:r>
            <a:r>
              <a:rPr lang="en-US" b="1" dirty="0" smtClean="0">
                <a:solidFill>
                  <a:srgbClr val="FF0000"/>
                </a:solidFill>
              </a:rPr>
              <a:t>Avoid questions, commands and announcements.</a:t>
            </a:r>
          </a:p>
          <a:p>
            <a:r>
              <a:rPr lang="en-US" dirty="0" smtClean="0"/>
              <a:t>Academic writing uses language to report, argue and critique. Instead of questions, commands and announcements, statements are encouraged.  </a:t>
            </a:r>
          </a:p>
          <a:p>
            <a:r>
              <a:rPr lang="en-US" b="1" dirty="0" smtClean="0"/>
              <a:t>Incorrect use:</a:t>
            </a:r>
            <a:r>
              <a:rPr lang="en-US" dirty="0" smtClean="0"/>
              <a:t> Now, let’s discuss how to complete this Chemistry 101 course.  How can writing a good laboratory report help students better understand the course and get a good mark? </a:t>
            </a:r>
          </a:p>
          <a:p>
            <a:r>
              <a:rPr lang="en-US" b="1" dirty="0" smtClean="0"/>
              <a:t>Correct use:</a:t>
            </a:r>
            <a:r>
              <a:rPr lang="en-US" dirty="0" smtClean="0"/>
              <a:t> Writing a proper laboratory report is an important skill required for Chemistry 101 students to comprehend the course thoroughly and complete the course with higher grades. </a:t>
            </a:r>
          </a:p>
          <a:p>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t>Guidelines for Academic Writing</a:t>
            </a:r>
            <a:endParaRPr lang="en-US" sz="3600" dirty="0"/>
          </a:p>
        </p:txBody>
      </p:sp>
      <p:sp>
        <p:nvSpPr>
          <p:cNvPr id="3" name="Content Placeholder 2"/>
          <p:cNvSpPr>
            <a:spLocks noGrp="1"/>
          </p:cNvSpPr>
          <p:nvPr>
            <p:ph idx="1"/>
          </p:nvPr>
        </p:nvSpPr>
        <p:spPr/>
        <p:txBody>
          <a:bodyPr>
            <a:normAutofit fontScale="85000" lnSpcReduction="20000"/>
          </a:bodyPr>
          <a:lstStyle/>
          <a:p>
            <a:pPr marL="0" indent="0">
              <a:buNone/>
            </a:pPr>
            <a:r>
              <a:rPr lang="en-US" b="1" dirty="0" smtClean="0"/>
              <a:t>6) </a:t>
            </a:r>
            <a:r>
              <a:rPr lang="en-US" b="1" dirty="0" smtClean="0">
                <a:solidFill>
                  <a:srgbClr val="FF0000"/>
                </a:solidFill>
              </a:rPr>
              <a:t>Avoid using short and simple sentences.</a:t>
            </a:r>
          </a:p>
          <a:p>
            <a:r>
              <a:rPr lang="en-US" dirty="0" smtClean="0"/>
              <a:t>In spoken language, short and incomplete sentences are common. However, the academic texts have more </a:t>
            </a:r>
            <a:r>
              <a:rPr lang="en-US" b="1" dirty="0" smtClean="0"/>
              <a:t>complex and longer sentences</a:t>
            </a:r>
            <a:r>
              <a:rPr lang="en-US" dirty="0" smtClean="0"/>
              <a:t>.  </a:t>
            </a:r>
          </a:p>
          <a:p>
            <a:r>
              <a:rPr lang="en-US" b="1" dirty="0" smtClean="0"/>
              <a:t>A weaker use: </a:t>
            </a:r>
            <a:r>
              <a:rPr lang="en-US" dirty="0" smtClean="0"/>
              <a:t>The 2015 Nobel Prize was given to Aziz </a:t>
            </a:r>
            <a:r>
              <a:rPr lang="en-US" dirty="0" err="1" smtClean="0"/>
              <a:t>Sancar</a:t>
            </a:r>
            <a:r>
              <a:rPr lang="en-US" dirty="0" smtClean="0"/>
              <a:t>, Tomas </a:t>
            </a:r>
            <a:r>
              <a:rPr lang="en-US" dirty="0" err="1" smtClean="0"/>
              <a:t>Lindahl</a:t>
            </a:r>
            <a:r>
              <a:rPr lang="en-US" dirty="0" smtClean="0"/>
              <a:t> and Paul </a:t>
            </a:r>
            <a:r>
              <a:rPr lang="en-US" dirty="0" err="1" smtClean="0"/>
              <a:t>Modrich</a:t>
            </a:r>
            <a:r>
              <a:rPr lang="en-US" dirty="0" smtClean="0"/>
              <a:t>. Their work was titled “Mechanistic studies of DNA repair”</a:t>
            </a:r>
            <a:r>
              <a:rPr lang="en-US" i="1" dirty="0" smtClean="0"/>
              <a:t>. </a:t>
            </a:r>
            <a:r>
              <a:rPr lang="en-US" dirty="0" smtClean="0"/>
              <a:t>It was about how cells correct its damaged DNA. </a:t>
            </a:r>
            <a:r>
              <a:rPr lang="en-US" b="1" dirty="0" smtClean="0"/>
              <a:t> </a:t>
            </a:r>
            <a:endParaRPr lang="en-US" dirty="0" smtClean="0"/>
          </a:p>
          <a:p>
            <a:r>
              <a:rPr lang="en-US" b="1" dirty="0" smtClean="0"/>
              <a:t>A better use: </a:t>
            </a:r>
            <a:r>
              <a:rPr lang="en-US" dirty="0" smtClean="0"/>
              <a:t> Three scholars, Aziz </a:t>
            </a:r>
            <a:r>
              <a:rPr lang="en-US" dirty="0" err="1" smtClean="0"/>
              <a:t>Sancar</a:t>
            </a:r>
            <a:r>
              <a:rPr lang="en-US" dirty="0" smtClean="0"/>
              <a:t>, Tomas </a:t>
            </a:r>
            <a:r>
              <a:rPr lang="en-US" dirty="0" err="1" smtClean="0"/>
              <a:t>Lindahl</a:t>
            </a:r>
            <a:r>
              <a:rPr lang="en-US" dirty="0" smtClean="0"/>
              <a:t> and Paul </a:t>
            </a:r>
            <a:r>
              <a:rPr lang="en-US" dirty="0" err="1" smtClean="0"/>
              <a:t>Modrich</a:t>
            </a:r>
            <a:r>
              <a:rPr lang="en-US" dirty="0" smtClean="0"/>
              <a:t>, were awarded the Nobel Prize in Chemistry in 2015 for their work “Mechanistic studies of DNA repair” which explores how a living cell repairs its damaged DNA to protect its genetic heritage. </a:t>
            </a:r>
            <a:r>
              <a:rPr lang="en-US" b="1" dirty="0" smtClean="0"/>
              <a:t> </a:t>
            </a: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t>Guidelines for Academic Writing</a:t>
            </a:r>
            <a:endParaRPr lang="en-US" sz="3600"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7</a:t>
            </a:r>
            <a:r>
              <a:rPr lang="en-US" b="1" dirty="0" smtClean="0"/>
              <a:t>)</a:t>
            </a:r>
            <a:r>
              <a:rPr lang="en-US" dirty="0" smtClean="0"/>
              <a:t> </a:t>
            </a:r>
            <a:r>
              <a:rPr lang="en-US" b="1" dirty="0" smtClean="0">
                <a:solidFill>
                  <a:srgbClr val="FF0000"/>
                </a:solidFill>
              </a:rPr>
              <a:t>Avoid using simple and colloquial vocabulary. </a:t>
            </a:r>
            <a:r>
              <a:rPr lang="en-US" b="1" dirty="0" smtClean="0"/>
              <a:t> </a:t>
            </a:r>
            <a:endParaRPr lang="en-US" dirty="0" smtClean="0"/>
          </a:p>
          <a:p>
            <a:r>
              <a:rPr lang="en-US" dirty="0" smtClean="0"/>
              <a:t>Word choice should be academic, technical and scientific and the use of unnecessary words should be avoided.</a:t>
            </a:r>
          </a:p>
          <a:p>
            <a:r>
              <a:rPr lang="en-US" b="1" dirty="0" smtClean="0"/>
              <a:t>A weaker use:</a:t>
            </a:r>
            <a:r>
              <a:rPr lang="en-US" dirty="0" smtClean="0"/>
              <a:t> When it rains a lot, the traffic gets as bad as it can be.</a:t>
            </a:r>
          </a:p>
          <a:p>
            <a:r>
              <a:rPr lang="en-US" b="1" dirty="0" smtClean="0"/>
              <a:t>A better use: </a:t>
            </a:r>
            <a:r>
              <a:rPr lang="en-US" dirty="0" smtClean="0"/>
              <a:t> Through an in-depth analysis of the data provided, it is possible to determine which meteorological factors have adverse consequences on urban traffic.  </a:t>
            </a:r>
          </a:p>
          <a:p>
            <a:pPr marL="0" indent="0">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theme1.xml><?xml version="1.0" encoding="utf-8"?>
<a:theme xmlns:a="http://schemas.openxmlformats.org/drawingml/2006/main" name="Inkwell">
  <a:themeElements>
    <a:clrScheme name="Inkwell">
      <a:dk1>
        <a:sysClr val="windowText" lastClr="000000"/>
      </a:dk1>
      <a:lt1>
        <a:sysClr val="window" lastClr="FFFFFF"/>
      </a:lt1>
      <a:dk2>
        <a:srgbClr val="584D2E"/>
      </a:dk2>
      <a:lt2>
        <a:srgbClr val="EFE7C3"/>
      </a:lt2>
      <a:accent1>
        <a:srgbClr val="860908"/>
      </a:accent1>
      <a:accent2>
        <a:srgbClr val="4A0505"/>
      </a:accent2>
      <a:accent3>
        <a:srgbClr val="7A500A"/>
      </a:accent3>
      <a:accent4>
        <a:srgbClr val="C47810"/>
      </a:accent4>
      <a:accent5>
        <a:srgbClr val="827752"/>
      </a:accent5>
      <a:accent6>
        <a:srgbClr val="B5BB83"/>
      </a:accent6>
      <a:hlink>
        <a:srgbClr val="C47810"/>
      </a:hlink>
      <a:folHlink>
        <a:srgbClr val="F0A43A"/>
      </a:folHlink>
    </a:clrScheme>
    <a:fontScheme name="Inkwell">
      <a:majorFont>
        <a:latin typeface="Goudy Old Style"/>
        <a:ea typeface=""/>
        <a:cs typeface=""/>
        <a:font script="Jpan" typeface="ＭＳ Ｐ明朝"/>
      </a:majorFont>
      <a:minorFont>
        <a:latin typeface="Goudy Old Style"/>
        <a:ea typeface=""/>
        <a:cs typeface=""/>
        <a:font script="Jpan" typeface="ＭＳ Ｐ明朝"/>
      </a:minorFont>
    </a:fontScheme>
    <a:fmtScheme name="Inkwell">
      <a:fillStyleLst>
        <a:solidFill>
          <a:schemeClr val="phClr"/>
        </a:solidFill>
        <a:blipFill rotWithShape="1">
          <a:blip xmlns:r="http://schemas.openxmlformats.org/officeDocument/2006/relationships" r:embed="rId1">
            <a:duotone>
              <a:schemeClr val="phClr">
                <a:shade val="30000"/>
              </a:schemeClr>
              <a:schemeClr val="phClr">
                <a:alpha val="10000"/>
                <a:satMod val="120000"/>
              </a:schemeClr>
            </a:duotone>
          </a:blip>
          <a:stretch/>
        </a:blipFill>
        <a:blipFill rotWithShape="1">
          <a:blip xmlns:r="http://schemas.openxmlformats.org/officeDocument/2006/relationships" r:embed="rId2">
            <a:duotone>
              <a:schemeClr val="phClr">
                <a:shade val="30000"/>
                <a:satMod val="150000"/>
              </a:schemeClr>
              <a:schemeClr val="phClr">
                <a:alpha val="10000"/>
                <a:satMod val="120000"/>
              </a:schemeClr>
            </a:duotone>
          </a:blip>
          <a:stretch/>
        </a:blipFill>
      </a:fillStyleLst>
      <a:lnStyleLst>
        <a:ln w="12700" cap="flat" cmpd="sng" algn="ctr">
          <a:solidFill>
            <a:schemeClr val="phClr">
              <a:shade val="95000"/>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101600" dist="38100" dir="5400000" rotWithShape="0">
              <a:srgbClr val="000000">
                <a:alpha val="75000"/>
              </a:srgbClr>
            </a:outerShdw>
          </a:effectLst>
        </a:effectStyle>
        <a:effectStyle>
          <a:effectLst>
            <a:outerShdw blurRad="38100" dist="25400" dir="5400000" rotWithShape="0">
              <a:srgbClr val="000000">
                <a:alpha val="75000"/>
              </a:srgbClr>
            </a:outerShdw>
            <a:softEdge rad="63500"/>
          </a:effectLst>
        </a:effectStyle>
      </a:effectStyleLst>
      <a:bgFillStyleLst>
        <a:blipFill rotWithShape="1">
          <a:blip xmlns:r="http://schemas.openxmlformats.org/officeDocument/2006/relationships" r:embed="rId3"/>
          <a:stretch/>
        </a:blipFill>
        <a:blipFill rotWithShape="1">
          <a:blip xmlns:r="http://schemas.openxmlformats.org/officeDocument/2006/relationships" r:embed="rId4"/>
          <a:stretch/>
        </a:blipFill>
        <a:blipFill rotWithShape="1">
          <a:blip xmlns:r="http://schemas.openxmlformats.org/officeDocument/2006/relationships" r:embed="rId5"/>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Inkwell.thmx</Template>
  <TotalTime>16609</TotalTime>
  <Words>1842</Words>
  <Application>Microsoft Office PowerPoint</Application>
  <PresentationFormat>Ekran Gösterisi (4:3)</PresentationFormat>
  <Paragraphs>135</Paragraphs>
  <Slides>23</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23</vt:i4>
      </vt:variant>
    </vt:vector>
  </HeadingPairs>
  <TitlesOfParts>
    <vt:vector size="29" baseType="lpstr">
      <vt:lpstr>Arial</vt:lpstr>
      <vt:lpstr>Calibri</vt:lpstr>
      <vt:lpstr>Goudy Old Style</vt:lpstr>
      <vt:lpstr>Impact</vt:lpstr>
      <vt:lpstr>Rockwell</vt:lpstr>
      <vt:lpstr>Inkwell</vt:lpstr>
      <vt:lpstr>Informal Texts vs. Formal Texts </vt:lpstr>
      <vt:lpstr>A formal text has a structure!</vt:lpstr>
      <vt:lpstr>Formal Texts</vt:lpstr>
      <vt:lpstr>Formal Texts</vt:lpstr>
      <vt:lpstr>Formal Texts</vt:lpstr>
      <vt:lpstr>Formal Texts</vt:lpstr>
      <vt:lpstr>FORMAL vs. INFORMAL</vt:lpstr>
      <vt:lpstr>Two texts are written on the same topic.  What is the difference between the two?  </vt:lpstr>
      <vt:lpstr>What is Academic Writing?  </vt:lpstr>
      <vt:lpstr>What is Tone?  What is Audience? What is Purpose? </vt:lpstr>
      <vt:lpstr>Identify the tone and audience of the text below.</vt:lpstr>
      <vt:lpstr>Identify the tone and audience of the text below.</vt:lpstr>
      <vt:lpstr>Identify the tone and audience of the text below. </vt:lpstr>
      <vt:lpstr>Identify the tone and audience of the text below. </vt:lpstr>
      <vt:lpstr>   ACTIVITY 1 - Read the definitions of ‘education’ and the sources provided below. TASK 1. Decide if they are spoken (S) or written (W). </vt:lpstr>
      <vt:lpstr>ACTIVITY 2 – Read the sentences below. Decide if the sentences are formal (F) or informal (I). </vt:lpstr>
      <vt:lpstr>Guidelines for Academic Writing</vt:lpstr>
      <vt:lpstr>Guidelines for Academic Writing</vt:lpstr>
      <vt:lpstr>Guidelines for Academic Writing</vt:lpstr>
      <vt:lpstr>Guidelines for Academic Writing</vt:lpstr>
      <vt:lpstr>Guidelines for Academic Writing</vt:lpstr>
      <vt:lpstr>Guidelines for Academic Writing</vt:lpstr>
      <vt:lpstr>Guidelines for Academic Writing</vt:lpstr>
    </vt:vector>
  </TitlesOfParts>
  <Company>GNY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Yurdanur Toktaş</cp:lastModifiedBy>
  <cp:revision>513</cp:revision>
  <dcterms:created xsi:type="dcterms:W3CDTF">2016-09-18T16:23:33Z</dcterms:created>
  <dcterms:modified xsi:type="dcterms:W3CDTF">2024-09-30T09:19:54Z</dcterms:modified>
</cp:coreProperties>
</file>